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LinkedIn / email outreach slide. Left = the personal message from the founder; right = the product proof (show, don't tell) plus the founding-member ask. Send as an image, or paste into a DM/deck. Brand system: white home, ink panel, Signal Blue, one amber win-node.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" y="1097280"/>
            <a:ext cx="5532120" cy="2011680"/>
          </a:xfrm>
          <a:prstGeom prst="line">
            <a:avLst/>
          </a:prstGeom>
          <a:noFill/>
          <a:ln w="12700">
            <a:solidFill>
              <a:srgbClr val="3D7B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1737360"/>
            <a:ext cx="5532120" cy="1371600"/>
          </a:xfrm>
          <a:prstGeom prst="line">
            <a:avLst/>
          </a:prstGeom>
          <a:noFill/>
          <a:ln w="12700">
            <a:solidFill>
              <a:srgbClr val="3D7B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74320" y="2377440"/>
            <a:ext cx="5532120" cy="731520"/>
          </a:xfrm>
          <a:prstGeom prst="line">
            <a:avLst/>
          </a:prstGeom>
          <a:noFill/>
          <a:ln w="12700">
            <a:solidFill>
              <a:srgbClr val="3D7B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274320" y="3108960"/>
            <a:ext cx="5532120" cy="0"/>
          </a:xfrm>
          <a:prstGeom prst="line">
            <a:avLst/>
          </a:prstGeom>
          <a:noFill/>
          <a:ln w="12700">
            <a:solidFill>
              <a:srgbClr val="3D7B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274320" y="3840480"/>
            <a:ext cx="5532120" cy="-731520"/>
          </a:xfrm>
          <a:prstGeom prst="line">
            <a:avLst/>
          </a:prstGeom>
          <a:noFill/>
          <a:ln w="12700">
            <a:solidFill>
              <a:srgbClr val="3D7B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274320" y="4480560"/>
            <a:ext cx="5532120" cy="-1371600"/>
          </a:xfrm>
          <a:prstGeom prst="line">
            <a:avLst/>
          </a:prstGeom>
          <a:noFill/>
          <a:ln w="12700">
            <a:solidFill>
              <a:srgbClr val="3D7B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74320" y="5120640"/>
            <a:ext cx="5532120" cy="-2011680"/>
          </a:xfrm>
          <a:prstGeom prst="line">
            <a:avLst/>
          </a:prstGeom>
          <a:noFill/>
          <a:ln w="12700">
            <a:solidFill>
              <a:srgbClr val="3D7B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57216" y="3008376"/>
            <a:ext cx="201168" cy="20116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indent="0" marL="0">
              <a:buNone/>
            </a:pPr>
            <a:r>
              <a:rPr lang="en-US" sz="2600" b="1" spc="-100" kern="0" dirty="0">
                <a:solidFill>
                  <a:srgbClr val="5C93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21208" y="932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QUICK NOTE FOR BID TEAMS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5544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spc="-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Know which contracts you can actually win.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spends most of its bidding time just searching — then races a three-week deadline. Bidstream reads the whole market and hands back only the tenders worth the fight, with the reasoning attached.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892040"/>
            <a:ext cx="4937760" cy="0"/>
          </a:xfrm>
          <a:prstGeom prst="line">
            <a:avLst/>
          </a:prstGeom>
          <a:noFill/>
          <a:ln w="12700">
            <a:solidFill>
              <a:srgbClr val="1C25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5120640"/>
            <a:ext cx="640080" cy="640080"/>
          </a:xfrm>
          <a:prstGeom prst="ellipse">
            <a:avLst/>
          </a:prstGeom>
          <a:solidFill>
            <a:srgbClr val="131A30"/>
          </a:solidFill>
          <a:ln w="19050">
            <a:solidFill>
              <a:srgbClr val="3D7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93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5138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Kovalenko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5413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Bidstream · 12 years in bidding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603504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3D7B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6035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matches — free for 3 months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55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YOU'D SEE ON MONDAY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91440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6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indent="0" marL="0">
              <a:buNone/>
            </a:pPr>
            <a:r>
              <a:rPr lang="en-US" sz="1600" b="1" spc="-60" kern="0" dirty="0">
                <a:solidFill>
                  <a:srgbClr val="3D7B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14813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WEEK · FILTERED FROM 1,240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4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8 contracts worth bidding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583680" y="2148840"/>
            <a:ext cx="48920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2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48272" y="2368296"/>
            <a:ext cx="91440" cy="914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9" name="Text 27"/>
          <p:cNvSpPr/>
          <p:nvPr/>
        </p:nvSpPr>
        <p:spPr>
          <a:xfrm>
            <a:off x="6931152" y="22037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Rail Signalling Upgrade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31152" y="24323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£2.4M · 12 DAYS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195560" y="2276856"/>
            <a:ext cx="1143000" cy="265176"/>
          </a:xfrm>
          <a:prstGeom prst="roundRect">
            <a:avLst>
              <a:gd name="adj" fmla="val 13793"/>
            </a:avLst>
          </a:prstGeom>
          <a:solidFill>
            <a:srgbClr val="FFF6E6"/>
          </a:solidFill>
          <a:ln/>
        </p:spPr>
      </p:sp>
      <p:sp>
        <p:nvSpPr>
          <p:cNvPr id="32" name="Text 30"/>
          <p:cNvSpPr/>
          <p:nvPr/>
        </p:nvSpPr>
        <p:spPr>
          <a:xfrm>
            <a:off x="10195560" y="2276856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9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94%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83680" y="2752344"/>
            <a:ext cx="48920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2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48272" y="2971800"/>
            <a:ext cx="91440" cy="914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5" name="Text 33"/>
          <p:cNvSpPr/>
          <p:nvPr/>
        </p:nvSpPr>
        <p:spPr>
          <a:xfrm>
            <a:off x="6931152" y="28072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Cyber Resilience Framework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31152" y="30358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£1.1M · 20 DAYS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195560" y="2880360"/>
            <a:ext cx="1143000" cy="265176"/>
          </a:xfrm>
          <a:prstGeom prst="roundRect">
            <a:avLst>
              <a:gd name="adj" fmla="val 13793"/>
            </a:avLst>
          </a:prstGeom>
          <a:solidFill>
            <a:srgbClr val="FFF6E6"/>
          </a:solidFill>
          <a:ln/>
        </p:spPr>
      </p:sp>
      <p:sp>
        <p:nvSpPr>
          <p:cNvPr id="38" name="Text 36"/>
          <p:cNvSpPr/>
          <p:nvPr/>
        </p:nvSpPr>
        <p:spPr>
          <a:xfrm>
            <a:off x="10195560" y="2880360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9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88%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83680" y="3355848"/>
            <a:ext cx="48920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2E7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48272" y="3575304"/>
            <a:ext cx="91440" cy="91440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41" name="Text 39"/>
          <p:cNvSpPr/>
          <p:nvPr/>
        </p:nvSpPr>
        <p:spPr>
          <a:xfrm>
            <a:off x="6931152" y="34107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Data Platform Modernisation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31152" y="36393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£780K · 9 DAYS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195560" y="3483864"/>
            <a:ext cx="1143000" cy="265176"/>
          </a:xfrm>
          <a:prstGeom prst="roundRect">
            <a:avLst>
              <a:gd name="adj" fmla="val 13793"/>
            </a:avLst>
          </a:prstGeom>
          <a:solidFill>
            <a:srgbClr val="EAF1FF"/>
          </a:solidFill>
          <a:ln/>
        </p:spPr>
      </p:sp>
      <p:sp>
        <p:nvSpPr>
          <p:cNvPr id="44" name="Text 42"/>
          <p:cNvSpPr/>
          <p:nvPr/>
        </p:nvSpPr>
        <p:spPr>
          <a:xfrm>
            <a:off x="10195560" y="3483864"/>
            <a:ext cx="1143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71%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55080" y="434340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449884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£4.2M</a:t>
            </a:r>
            <a:endParaRPr lang="en-US" sz="2300" dirty="0"/>
          </a:p>
        </p:txBody>
      </p:sp>
      <p:sp>
        <p:nvSpPr>
          <p:cNvPr id="47" name="Text 45"/>
          <p:cNvSpPr/>
          <p:nvPr/>
        </p:nvSpPr>
        <p:spPr>
          <a:xfrm>
            <a:off x="6464808" y="49560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one user nearly missed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165592" y="434340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65592" y="449884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9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wks</a:t>
            </a:r>
            <a:endParaRPr lang="en-US" sz="2300" dirty="0"/>
          </a:p>
        </p:txBody>
      </p:sp>
      <p:sp>
        <p:nvSpPr>
          <p:cNvPr id="50" name="Text 48"/>
          <p:cNvSpPr/>
          <p:nvPr/>
        </p:nvSpPr>
        <p:spPr>
          <a:xfrm>
            <a:off x="8275320" y="49560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time to respond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976104" y="4343400"/>
            <a:ext cx="1664208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976104" y="449884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9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2300" dirty="0"/>
          </a:p>
        </p:txBody>
      </p:sp>
      <p:sp>
        <p:nvSpPr>
          <p:cNvPr id="53" name="Text 51"/>
          <p:cNvSpPr/>
          <p:nvPr/>
        </p:nvSpPr>
        <p:spPr>
          <a:xfrm>
            <a:off x="10085832" y="49560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places, capped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355080" y="562356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0FBF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0" y="56235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Founding-member offer: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3 months, then a low rate locked for a year. First 200 companies only.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2026-07-30T23:49:03Z</dcterms:created>
  <dcterms:modified xsi:type="dcterms:W3CDTF">2026-07-30T23:49:03Z</dcterms:modified>
</cp:coreProperties>
</file>