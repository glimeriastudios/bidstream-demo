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5, rebuilt as a 24-month timeline from the planning notes: (1) Seeding — 500–1,000 warm contacts, real feedback and testimonials, bootstrap via newsletter and on-site sign-up; (2) Niche brand image — turn proof into a focused brand; (3) Scale up — roll out more features, increase price, secure Series A. Phases are evidence-gated, not date-gated.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24-month plan: seed it, build the brand, scale it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0515600" cy="0"/>
          </a:xfrm>
          <a:prstGeom prst="line">
            <a:avLst/>
          </a:prstGeom>
          <a:noFill/>
          <a:ln w="19050">
            <a:solidFill>
              <a:srgbClr val="D3DA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83664"/>
            <a:ext cx="0" cy="164592"/>
          </a:xfrm>
          <a:prstGeom prst="line">
            <a:avLst/>
          </a:prstGeom>
          <a:noFill/>
          <a:ln w="19050">
            <a:solidFill>
              <a:srgbClr val="D3D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20939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51860" y="1883664"/>
            <a:ext cx="0" cy="164592"/>
          </a:xfrm>
          <a:prstGeom prst="line">
            <a:avLst/>
          </a:prstGeom>
          <a:noFill/>
          <a:ln w="19050">
            <a:solidFill>
              <a:srgbClr val="D3D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466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11780" y="20939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1883664"/>
            <a:ext cx="0" cy="164592"/>
          </a:xfrm>
          <a:prstGeom prst="line">
            <a:avLst/>
          </a:prstGeom>
          <a:noFill/>
          <a:ln w="19050">
            <a:solidFill>
              <a:srgbClr val="D3D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20939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12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709660" y="1883664"/>
            <a:ext cx="0" cy="164592"/>
          </a:xfrm>
          <a:prstGeom prst="line">
            <a:avLst/>
          </a:prstGeom>
          <a:noFill/>
          <a:ln w="19050">
            <a:solidFill>
              <a:srgbClr val="D3D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246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69580" y="20939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18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338560" y="1883664"/>
            <a:ext cx="0" cy="164592"/>
          </a:xfrm>
          <a:prstGeom prst="line">
            <a:avLst/>
          </a:prstGeom>
          <a:noFill/>
          <a:ln w="19050">
            <a:solidFill>
              <a:srgbClr val="D3DA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8480" y="20939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24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237976" y="1865376"/>
            <a:ext cx="201168" cy="20116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1915668"/>
            <a:ext cx="3413760" cy="100584"/>
          </a:xfrm>
          <a:prstGeom prst="roundRect">
            <a:avLst>
              <a:gd name="adj" fmla="val 45455"/>
            </a:avLst>
          </a:prstGeom>
          <a:solidFill>
            <a:srgbClr val="3D7B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493264" y="1883664"/>
            <a:ext cx="164592" cy="16459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3D7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75560" y="2048256"/>
            <a:ext cx="0" cy="566928"/>
          </a:xfrm>
          <a:prstGeom prst="line">
            <a:avLst/>
          </a:prstGeom>
          <a:noFill/>
          <a:ln w="12700">
            <a:solidFill>
              <a:srgbClr val="D3DAE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373880" y="1915668"/>
            <a:ext cx="3851910" cy="100584"/>
          </a:xfrm>
          <a:prstGeom prst="roundRect">
            <a:avLst>
              <a:gd name="adj" fmla="val 45455"/>
            </a:avLst>
          </a:prstGeom>
          <a:solidFill>
            <a:srgbClr val="2DD4BF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539" y="1883664"/>
            <a:ext cx="164592" cy="16459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DD4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9835" y="2048256"/>
            <a:ext cx="0" cy="566928"/>
          </a:xfrm>
          <a:prstGeom prst="line">
            <a:avLst/>
          </a:prstGeom>
          <a:noFill/>
          <a:ln w="12700">
            <a:solidFill>
              <a:srgbClr val="D3DAE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317230" y="1915668"/>
            <a:ext cx="2975610" cy="100584"/>
          </a:xfrm>
          <a:prstGeom prst="roundRect">
            <a:avLst>
              <a:gd name="adj" fmla="val 45455"/>
            </a:avLst>
          </a:prstGeom>
          <a:solidFill>
            <a:srgbClr val="E09600"/>
          </a:solidFill>
          <a:ln/>
        </p:spPr>
      </p:sp>
      <p:sp>
        <p:nvSpPr>
          <p:cNvPr id="30" name="Shape 28"/>
          <p:cNvSpPr/>
          <p:nvPr/>
        </p:nvSpPr>
        <p:spPr>
          <a:xfrm>
            <a:off x="9722739" y="1883664"/>
            <a:ext cx="164592" cy="16459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096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05035" y="2048256"/>
            <a:ext cx="0" cy="566928"/>
          </a:xfrm>
          <a:prstGeom prst="line">
            <a:avLst/>
          </a:prstGeom>
          <a:noFill/>
          <a:ln w="12700">
            <a:solidFill>
              <a:srgbClr val="D3DAE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57200" y="2697480"/>
            <a:ext cx="350215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02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2697480"/>
            <a:ext cx="3502152" cy="82296"/>
          </a:xfrm>
          <a:prstGeom prst="roundRect">
            <a:avLst>
              <a:gd name="adj" fmla="val 44444"/>
            </a:avLst>
          </a:prstGeom>
          <a:solidFill>
            <a:srgbClr val="3D7B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49808" y="2971800"/>
            <a:ext cx="548640" cy="548640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417320" y="3026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0–8 mo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" y="363016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4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Seeding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68096" y="4325112"/>
            <a:ext cx="91440" cy="91440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39" name="Text 37"/>
          <p:cNvSpPr/>
          <p:nvPr/>
        </p:nvSpPr>
        <p:spPr>
          <a:xfrm>
            <a:off x="987552" y="4233672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500–1,000 warm contacts — get them using it for real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68096" y="4855464"/>
            <a:ext cx="91440" cy="91440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41" name="Text 39"/>
          <p:cNvSpPr/>
          <p:nvPr/>
        </p:nvSpPr>
        <p:spPr>
          <a:xfrm>
            <a:off x="987552" y="4764024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feedback and testimonials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68096" y="5385816"/>
            <a:ext cx="91440" cy="91440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43" name="Text 41"/>
          <p:cNvSpPr/>
          <p:nvPr/>
        </p:nvSpPr>
        <p:spPr>
          <a:xfrm>
            <a:off x="987552" y="529437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Bootstrap: newsletter + built-in sign-up on the website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233672" y="2697480"/>
            <a:ext cx="350215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020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33672" y="2697480"/>
            <a:ext cx="3502152" cy="82296"/>
          </a:xfrm>
          <a:prstGeom prst="roundRect">
            <a:avLst>
              <a:gd name="adj" fmla="val 44444"/>
            </a:avLst>
          </a:prstGeom>
          <a:solidFill>
            <a:srgbClr val="2DD4BF"/>
          </a:solidFill>
          <a:ln/>
        </p:spPr>
      </p:sp>
      <p:sp>
        <p:nvSpPr>
          <p:cNvPr id="46" name="Shape 44"/>
          <p:cNvSpPr/>
          <p:nvPr/>
        </p:nvSpPr>
        <p:spPr>
          <a:xfrm>
            <a:off x="4526280" y="297180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7" name="Text 45"/>
          <p:cNvSpPr/>
          <p:nvPr/>
        </p:nvSpPr>
        <p:spPr>
          <a:xfrm>
            <a:off x="45262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5193792" y="3026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8–17 mo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26280" y="363016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4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Niche brand image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4544568" y="432511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1" name="Text 49"/>
          <p:cNvSpPr/>
          <p:nvPr/>
        </p:nvSpPr>
        <p:spPr>
          <a:xfrm>
            <a:off x="4764024" y="4233672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early proof into a sharp, focused brand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544568" y="485546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3" name="Text 51"/>
          <p:cNvSpPr/>
          <p:nvPr/>
        </p:nvSpPr>
        <p:spPr>
          <a:xfrm>
            <a:off x="4764024" y="4764024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one niche rather than speaking to everyone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544568" y="5385816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5" name="Text 53"/>
          <p:cNvSpPr/>
          <p:nvPr/>
        </p:nvSpPr>
        <p:spPr>
          <a:xfrm>
            <a:off x="4764024" y="529437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format across every channel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010144" y="2697480"/>
            <a:ext cx="350215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02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010144" y="2697480"/>
            <a:ext cx="3502152" cy="82296"/>
          </a:xfrm>
          <a:prstGeom prst="roundRect">
            <a:avLst>
              <a:gd name="adj" fmla="val 44444"/>
            </a:avLst>
          </a:prstGeom>
          <a:solidFill>
            <a:srgbClr val="E09600"/>
          </a:solidFill>
          <a:ln/>
        </p:spPr>
      </p:sp>
      <p:sp>
        <p:nvSpPr>
          <p:cNvPr id="58" name="Shape 56"/>
          <p:cNvSpPr/>
          <p:nvPr/>
        </p:nvSpPr>
        <p:spPr>
          <a:xfrm>
            <a:off x="8302752" y="2971800"/>
            <a:ext cx="548640" cy="548640"/>
          </a:xfrm>
          <a:prstGeom prst="ellipse">
            <a:avLst/>
          </a:prstGeom>
          <a:solidFill>
            <a:srgbClr val="E09600"/>
          </a:solidFill>
          <a:ln/>
        </p:spPr>
      </p:sp>
      <p:sp>
        <p:nvSpPr>
          <p:cNvPr id="59" name="Text 57"/>
          <p:cNvSpPr/>
          <p:nvPr/>
        </p:nvSpPr>
        <p:spPr>
          <a:xfrm>
            <a:off x="8302752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8970264" y="3026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17–24 mo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302752" y="363016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4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Scale up</a:t>
            </a:r>
            <a:endParaRPr lang="en-US" sz="2000" dirty="0"/>
          </a:p>
        </p:txBody>
      </p:sp>
      <p:sp>
        <p:nvSpPr>
          <p:cNvPr id="62" name="Shape 60"/>
          <p:cNvSpPr/>
          <p:nvPr/>
        </p:nvSpPr>
        <p:spPr>
          <a:xfrm>
            <a:off x="8321040" y="4325112"/>
            <a:ext cx="91440" cy="91440"/>
          </a:xfrm>
          <a:prstGeom prst="ellipse">
            <a:avLst/>
          </a:prstGeom>
          <a:solidFill>
            <a:srgbClr val="E09600"/>
          </a:solidFill>
          <a:ln/>
        </p:spPr>
      </p:sp>
      <p:sp>
        <p:nvSpPr>
          <p:cNvPr id="63" name="Text 61"/>
          <p:cNvSpPr/>
          <p:nvPr/>
        </p:nvSpPr>
        <p:spPr>
          <a:xfrm>
            <a:off x="8540496" y="4233672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more features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8321040" y="4855464"/>
            <a:ext cx="91440" cy="91440"/>
          </a:xfrm>
          <a:prstGeom prst="ellipse">
            <a:avLst/>
          </a:prstGeom>
          <a:solidFill>
            <a:srgbClr val="E09600"/>
          </a:solidFill>
          <a:ln/>
        </p:spPr>
      </p:sp>
      <p:sp>
        <p:nvSpPr>
          <p:cNvPr id="65" name="Text 63"/>
          <p:cNvSpPr/>
          <p:nvPr/>
        </p:nvSpPr>
        <p:spPr>
          <a:xfrm>
            <a:off x="8540496" y="4764024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price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8321040" y="5385816"/>
            <a:ext cx="91440" cy="91440"/>
          </a:xfrm>
          <a:prstGeom prst="ellipse">
            <a:avLst/>
          </a:prstGeom>
          <a:solidFill>
            <a:srgbClr val="E09600"/>
          </a:solidFill>
          <a:ln/>
        </p:spPr>
      </p:sp>
      <p:sp>
        <p:nvSpPr>
          <p:cNvPr id="67" name="Text 65"/>
          <p:cNvSpPr/>
          <p:nvPr/>
        </p:nvSpPr>
        <p:spPr>
          <a:xfrm>
            <a:off x="8540496" y="529437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Series A investment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457200" y="617220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F0FBF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724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through-line:  </a:t>
            </a:r>
            <a:pPr indent="0" marL="0">
              <a:buNone/>
            </a:pPr>
            <a:r>
              <a:rPr lang="en-US" sz="12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only starts once the one before it has produced real proof — evidence, then brand, then scale.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2026-08-07T13:45:12Z</dcterms:created>
  <dcterms:modified xsi:type="dcterms:W3CDTF">2026-08-07T13:45:12Z</dcterms:modified>
</cp:coreProperties>
</file>