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Bidstream helps a company find the public and private contracts it has a real chance of winning. This deck covers the idea in brief, then focuses on how we go to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plain problems: hard to find, easy to miss, wrong bids chosen. "Thousands of websites" rather than a precise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jargon: "the software reads the words the way a person would" and "it learns from which bids companies actually win."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 reasons: easy to understand, easy to prove, fits a short 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GTM overview as a 24-month timeline: prove it (0–4), sell the proof (4–8), focus on best fits (8–14), own the space (14–24). Phases are evidence-gated, not date-gated. "Cost to win a customer" = marketing spend per new paying company, which drops across the phases.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outreach to the 500+ network is the first and strongest channel. Free window is 6 months, matching the timeline on the go-to-market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LinkedIn creative for Step 1. Left explains the three moves; right is the actual post graphic on the real office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Benchmarks argue for a short, time-boxed free window, not permanent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Ads shift from problem-led to proof-led. Early customers keep their price, publicly.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slide per note: shows the price ladder (free → $99 → $490/$1,490) and the revenue that follows once companies convert. The zero-revenue bars in the free window are intentional — Step 1 buys proof, and revenue climbs from month 9. Figures illustrative, tied to the funnel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 terms: cost per lead, cost to win a customer. The 281-day figure is "often most of a year."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Tenderstria is the closest analogue to our Step 1 offer.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"Focus on the best fits" fully explained. ARR shown as "average yearly amount a customer would pay us."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is now monthly (was yearly) and doubled with a LinkedIn sneak-peek each month that drives subscriptions — building the list and the brand at once. Plus partners, events and data licensing.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Funnel in plain words. Activation is the number that matters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risks come down to one discipline: the free period buys proof, and proof only exists if the product genuinely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week-13 checkpoint is the gate to Step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ask. Convergence motif and amber node carry the brand through to the final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B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0"/>
            <a:ext cx="8686800" cy="1280160"/>
          </a:xfrm>
          <a:prstGeom prst="line">
            <a:avLst/>
          </a:prstGeom>
          <a:noFill/>
          <a:ln w="12700">
            <a:solidFill>
              <a:srgbClr val="3D7BF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377440"/>
            <a:ext cx="8686800" cy="731520"/>
          </a:xfrm>
          <a:prstGeom prst="line">
            <a:avLst/>
          </a:prstGeom>
          <a:noFill/>
          <a:ln w="12700">
            <a:solidFill>
              <a:srgbClr val="3D7BF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3108960"/>
            <a:ext cx="8686800" cy="0"/>
          </a:xfrm>
          <a:prstGeom prst="line">
            <a:avLst/>
          </a:prstGeom>
          <a:noFill/>
          <a:ln w="12700">
            <a:solidFill>
              <a:srgbClr val="3D7BFF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3840480"/>
            <a:ext cx="8686800" cy="-731520"/>
          </a:xfrm>
          <a:prstGeom prst="line">
            <a:avLst/>
          </a:prstGeom>
          <a:noFill/>
          <a:ln w="12700">
            <a:solidFill>
              <a:srgbClr val="3D7BFF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4389120"/>
            <a:ext cx="8686800" cy="-1280160"/>
          </a:xfrm>
          <a:prstGeom prst="line">
            <a:avLst/>
          </a:prstGeom>
          <a:noFill/>
          <a:ln w="12700">
            <a:solidFill>
              <a:srgbClr val="3D7BFF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33688" y="2990088"/>
            <a:ext cx="256032" cy="25603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8" name="Shape 6"/>
          <p:cNvSpPr/>
          <p:nvPr/>
        </p:nvSpPr>
        <p:spPr>
          <a:xfrm>
            <a:off x="9189720" y="3108960"/>
            <a:ext cx="2377440" cy="0"/>
          </a:xfrm>
          <a:prstGeom prst="line">
            <a:avLst/>
          </a:prstGeom>
          <a:noFill/>
          <a:ln w="31750">
            <a:solidFill>
              <a:srgbClr val="FFB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Bid</a:t>
            </a:r>
            <a:pPr indent="0" marL="0">
              <a:buNone/>
            </a:pPr>
            <a:r>
              <a:rPr lang="en-US" sz="6000" b="1" spc="-200" kern="0" dirty="0">
                <a:solidFill>
                  <a:srgbClr val="5C93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Stream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Tender Intelligence  ·  Go-To-Market Strategy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Know which contracts you can actually win.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C9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$22B+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48640" y="4709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tender market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4114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337560" y="4709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Tenders missed by hand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4114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4709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matched tenders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E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SERIES SEED  ·  CONFIDENTIAL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6032" cy="10973"/>
          </a:xfrm>
          <a:prstGeom prst="rect">
            <a:avLst/>
          </a:prstGeom>
          <a:solidFill>
            <a:srgbClr val="3D7BFF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241280" y="256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-10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Bid</a:t>
            </a:r>
            <a:pPr algn="r" indent="0" marL="0">
              <a:buNone/>
            </a:pPr>
            <a:r>
              <a:rPr lang="en-US" sz="1200" b="1" spc="-100" kern="0" dirty="0">
                <a:solidFill>
                  <a:srgbClr val="3D7B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5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Most companies never see the contracts they could win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50215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1847088"/>
            <a:ext cx="201168" cy="201168"/>
          </a:xfrm>
          <a:prstGeom prst="ellipse">
            <a:avLst/>
          </a:prstGeom>
          <a:solidFill>
            <a:srgbClr val="3D7BFF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148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Hard to find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86384" y="2542032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contracts are spread across thousands of government and private websites. Teams spend most of their bidding time just searching.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33672" y="1554480"/>
            <a:ext cx="350215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62856" y="1847088"/>
            <a:ext cx="201168" cy="201168"/>
          </a:xfrm>
          <a:prstGeom prst="ellipse">
            <a:avLst/>
          </a:prstGeom>
          <a:solidFill>
            <a:srgbClr val="E096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62856" y="2148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Easy to miss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62856" y="2542032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procurement teams admit they miss good contracts because they find them too late. The window to respond is often only about three weeks.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10144" y="1554480"/>
            <a:ext cx="350215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9328" y="1847088"/>
            <a:ext cx="201168" cy="201168"/>
          </a:xfrm>
          <a:prstGeom prst="ellipse">
            <a:avLst/>
          </a:prstGeom>
          <a:solidFill>
            <a:srgbClr val="0F9B8A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2148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Wrong bids chosen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39328" y="2542032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spend a lot of effort on contracts they end up losing — usually because the poor fit only becomes clear after the work has started.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11237976" cy="731520"/>
          </a:xfrm>
          <a:prstGeom prst="roundRect">
            <a:avLst>
              <a:gd name="adj" fmla="val 11250"/>
            </a:avLst>
          </a:prstGeom>
          <a:solidFill>
            <a:srgbClr val="FFF6E6"/>
          </a:solidFill>
          <a:ln w="12700">
            <a:solidFill>
              <a:srgbClr val="FFB020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4526280"/>
            <a:ext cx="11237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cost: </a:t>
            </a:r>
            <a:pPr algn="ctr" indent="0" marL="0">
              <a:buNone/>
            </a:pPr>
            <a:r>
              <a:rPr lang="en-US" sz="14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lose an estimated </a:t>
            </a:r>
            <a:pPr algn="ctr" indent="0" marL="0">
              <a:buNone/>
            </a:pPr>
            <a:r>
              <a:rPr lang="en-US" sz="1400" b="1" dirty="0">
                <a:solidFill>
                  <a:srgbClr val="E09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$340B</a:t>
            </a:r>
            <a:pPr algn="ctr" indent="0" marL="0">
              <a:buNone/>
            </a:pPr>
            <a:r>
              <a:rPr lang="en-US" sz="14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contracts every year simply because they never saw the right ones in time.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6032" cy="10973"/>
          </a:xfrm>
          <a:prstGeom prst="rect">
            <a:avLst/>
          </a:prstGeom>
          <a:solidFill>
            <a:srgbClr val="3D7BFF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SOLUTION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241280" y="256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-10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Bid</a:t>
            </a:r>
            <a:pPr algn="r" indent="0" marL="0">
              <a:buNone/>
            </a:pPr>
            <a:r>
              <a:rPr lang="en-US" sz="1200" b="1" spc="-100" kern="0" dirty="0">
                <a:solidFill>
                  <a:srgbClr val="3D7B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5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place that reads the whole market and shows you what fits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084832" cy="2331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0160" y="1783080"/>
            <a:ext cx="438912" cy="438912"/>
          </a:xfrm>
          <a:prstGeom prst="ellipse">
            <a:avLst/>
          </a:prstGeom>
          <a:solidFill>
            <a:srgbClr val="3D7BFF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Gather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2670048"/>
            <a:ext cx="16824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collect open contracts from public and private sources in one feed.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0" y="2002536"/>
            <a:ext cx="182880" cy="0"/>
          </a:xfrm>
          <a:prstGeom prst="line">
            <a:avLst/>
          </a:prstGeom>
          <a:noFill/>
          <a:ln w="19050">
            <a:solidFill>
              <a:srgbClr val="E6C5B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52344" y="1554480"/>
            <a:ext cx="2084832" cy="2331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75304" y="1783080"/>
            <a:ext cx="438912" cy="43891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3575304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52344" y="233172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Match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53512" y="2670048"/>
            <a:ext cx="16824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 each contract to what your company does and how well it fits.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55464" y="2002536"/>
            <a:ext cx="182880" cy="0"/>
          </a:xfrm>
          <a:prstGeom prst="line">
            <a:avLst/>
          </a:prstGeom>
          <a:noFill/>
          <a:ln w="19050">
            <a:solidFill>
              <a:srgbClr val="E6C5B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47488" y="1554480"/>
            <a:ext cx="2084832" cy="2331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70448" y="1783080"/>
            <a:ext cx="438912" cy="438912"/>
          </a:xfrm>
          <a:prstGeom prst="ellipse">
            <a:avLst/>
          </a:prstGeom>
          <a:solidFill>
            <a:srgbClr val="3D7BFF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47488" y="233172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48656" y="2670048"/>
            <a:ext cx="16824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pull out the key details — scope, budget, deadline — so you don't have to.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50608" y="2002536"/>
            <a:ext cx="182880" cy="0"/>
          </a:xfrm>
          <a:prstGeom prst="line">
            <a:avLst/>
          </a:prstGeom>
          <a:noFill/>
          <a:ln w="19050">
            <a:solidFill>
              <a:srgbClr val="E6C5B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42632" y="1554480"/>
            <a:ext cx="2084832" cy="2331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65592" y="1783080"/>
            <a:ext cx="438912" cy="43891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6" name="Text 24"/>
          <p:cNvSpPr/>
          <p:nvPr/>
        </p:nvSpPr>
        <p:spPr>
          <a:xfrm>
            <a:off x="8165592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42632" y="233172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Remind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543800" y="2670048"/>
            <a:ext cx="16824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track deadlines and tell you when something needs attention.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445752" y="2002536"/>
            <a:ext cx="182880" cy="0"/>
          </a:xfrm>
          <a:prstGeom prst="line">
            <a:avLst/>
          </a:prstGeom>
          <a:noFill/>
          <a:ln w="19050">
            <a:solidFill>
              <a:srgbClr val="E6C5B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37776" y="1554480"/>
            <a:ext cx="2084832" cy="2331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460736" y="1783080"/>
            <a:ext cx="438912" cy="43891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2" name="Text 30"/>
          <p:cNvSpPr/>
          <p:nvPr/>
        </p:nvSpPr>
        <p:spPr>
          <a:xfrm>
            <a:off x="10460736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37776" y="233172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Act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838944" y="2670048"/>
            <a:ext cx="16824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suggest the next step for each contract worth pursuing.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114800"/>
            <a:ext cx="1123797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31520" y="426110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How the matching actually works, in plain terms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31520" y="4681728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8" name="Text 36"/>
          <p:cNvSpPr/>
          <p:nvPr/>
        </p:nvSpPr>
        <p:spPr>
          <a:xfrm>
            <a:off x="960120" y="4572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read the words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60120" y="4846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reads each contract document — even long PDFs — and understands what is being asked for, the way a person would.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72200" y="4681728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4572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learn from results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400800" y="4846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gets sharper over time by learning from which bids companies actually win, so the fit score keeps improving.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6032" cy="10973"/>
          </a:xfrm>
          <a:prstGeom prst="rect">
            <a:avLst/>
          </a:prstGeom>
          <a:solidFill>
            <a:srgbClr val="5C93FF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C9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241280" y="256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-1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Bid</a:t>
            </a:r>
            <a:pPr algn="r" indent="0" marL="0">
              <a:buNone/>
            </a:pPr>
            <a:r>
              <a:rPr lang="en-US" sz="1200" b="1" spc="-100" kern="0" dirty="0">
                <a:solidFill>
                  <a:srgbClr val="5C93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5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We sell one clear promise, not a long list of features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131A30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saying...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complete tender intelligence platform"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"End-to-end procurement software"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feature list and roadmap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...which sounds like everyone else and is hard to prove.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554480"/>
            <a:ext cx="5614416" cy="2103120"/>
          </a:xfrm>
          <a:prstGeom prst="roundRect">
            <a:avLst>
              <a:gd name="adj" fmla="val 3913"/>
            </a:avLst>
          </a:prstGeom>
          <a:solidFill>
            <a:srgbClr val="0E2A22"/>
          </a:solidFill>
          <a:ln w="12700">
            <a:solidFill>
              <a:srgbClr val="0F9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7556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...we say one thing: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08483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spc="-5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"Know which contracts</a:t>
            </a:r>
            <a:endParaRPr lang="en-US" sz="2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200" b="1" spc="-5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you can actually win."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29260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tell us what your company does. We show you a short list of contracts that fit — and why. Everything else comes later.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Why one clear promise wins: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3502152" cy="1463040"/>
          </a:xfrm>
          <a:prstGeom prst="roundRect">
            <a:avLst>
              <a:gd name="adj" fmla="val 5625"/>
            </a:avLst>
          </a:prstGeom>
          <a:solidFill>
            <a:srgbClr val="131A30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453128"/>
            <a:ext cx="146304" cy="146304"/>
          </a:xfrm>
          <a:prstGeom prst="ellipse">
            <a:avLst/>
          </a:prstGeom>
          <a:solidFill>
            <a:srgbClr val="5C93FF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3708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easy to understand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" y="47091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buyer gets it in one sentence. A feature list makes them work to figure out if it is for them.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33672" y="4251960"/>
            <a:ext cx="3502152" cy="1463040"/>
          </a:xfrm>
          <a:prstGeom prst="roundRect">
            <a:avLst>
              <a:gd name="adj" fmla="val 5625"/>
            </a:avLst>
          </a:prstGeom>
          <a:solidFill>
            <a:srgbClr val="131A30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07992" y="4453128"/>
            <a:ext cx="146304" cy="146304"/>
          </a:xfrm>
          <a:prstGeom prst="ellipse">
            <a:avLst/>
          </a:prstGeom>
          <a:solidFill>
            <a:srgbClr val="5C93FF"/>
          </a:solidFill>
          <a:ln/>
        </p:spPr>
      </p:sp>
      <p:sp>
        <p:nvSpPr>
          <p:cNvPr id="23" name="Text 21"/>
          <p:cNvSpPr/>
          <p:nvPr/>
        </p:nvSpPr>
        <p:spPr>
          <a:xfrm>
            <a:off x="4736592" y="43708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easy to prove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07992" y="47091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show, in a few weeks, whether we found a company contracts it could win. A broad platform claim can't be tested that fast.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10144" y="4251960"/>
            <a:ext cx="3502152" cy="1463040"/>
          </a:xfrm>
          <a:prstGeom prst="roundRect">
            <a:avLst>
              <a:gd name="adj" fmla="val 5625"/>
            </a:avLst>
          </a:prstGeom>
          <a:solidFill>
            <a:srgbClr val="131A30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84464" y="4453128"/>
            <a:ext cx="146304" cy="146304"/>
          </a:xfrm>
          <a:prstGeom prst="ellipse">
            <a:avLst/>
          </a:prstGeom>
          <a:solidFill>
            <a:srgbClr val="5C93FF"/>
          </a:solidFill>
          <a:ln/>
        </p:spPr>
      </p:sp>
      <p:sp>
        <p:nvSpPr>
          <p:cNvPr id="27" name="Text 25"/>
          <p:cNvSpPr/>
          <p:nvPr/>
        </p:nvSpPr>
        <p:spPr>
          <a:xfrm>
            <a:off x="8513064" y="43708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fits a short ad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84464" y="47091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LinkedIn or Google you have a couple of seconds. One promise lands; a list of features gets scrolled past.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6032" cy="10973"/>
          </a:xfrm>
          <a:prstGeom prst="rect">
            <a:avLst/>
          </a:prstGeom>
          <a:solidFill>
            <a:srgbClr val="3D7BFF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GO-TO-MARKET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241280" y="256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-10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Bid</a:t>
            </a:r>
            <a:pPr algn="r" indent="0" marL="0">
              <a:buNone/>
            </a:pPr>
            <a:r>
              <a:rPr lang="en-US" sz="1200" b="1" spc="-100" kern="0" dirty="0">
                <a:solidFill>
                  <a:srgbClr val="3D7B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5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24-month plan: prove it, sell it, focus it, own it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515600" cy="0"/>
          </a:xfrm>
          <a:prstGeom prst="line">
            <a:avLst/>
          </a:prstGeom>
          <a:noFill/>
          <a:ln w="19050">
            <a:solidFill>
              <a:srgbClr val="E6C5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29384"/>
            <a:ext cx="0" cy="164592"/>
          </a:xfrm>
          <a:prstGeom prst="line">
            <a:avLst/>
          </a:prstGeom>
          <a:noFill/>
          <a:ln w="19050">
            <a:solidFill>
              <a:srgbClr val="E6C5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" y="2139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8A9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51860" y="1929384"/>
            <a:ext cx="0" cy="164592"/>
          </a:xfrm>
          <a:prstGeom prst="line">
            <a:avLst/>
          </a:prstGeom>
          <a:noFill/>
          <a:ln w="19050">
            <a:solidFill>
              <a:srgbClr val="E6C5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4660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11780" y="2139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8A9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 6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1929384"/>
            <a:ext cx="0" cy="164592"/>
          </a:xfrm>
          <a:prstGeom prst="line">
            <a:avLst/>
          </a:prstGeom>
          <a:noFill/>
          <a:ln w="19050">
            <a:solidFill>
              <a:srgbClr val="E6C5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2139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8A9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 12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709660" y="1929384"/>
            <a:ext cx="0" cy="164592"/>
          </a:xfrm>
          <a:prstGeom prst="line">
            <a:avLst/>
          </a:prstGeom>
          <a:noFill/>
          <a:ln w="19050">
            <a:solidFill>
              <a:srgbClr val="E6C5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52460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69580" y="2139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8A9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 18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1338560" y="1929384"/>
            <a:ext cx="0" cy="164592"/>
          </a:xfrm>
          <a:prstGeom prst="line">
            <a:avLst/>
          </a:prstGeom>
          <a:noFill/>
          <a:ln w="19050">
            <a:solidFill>
              <a:srgbClr val="E6C5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81360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98480" y="21396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8A9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24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1237976" y="1911096"/>
            <a:ext cx="201168" cy="20116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" y="1965960"/>
            <a:ext cx="2555748" cy="91440"/>
          </a:xfrm>
          <a:prstGeom prst="roundRect">
            <a:avLst>
              <a:gd name="adj" fmla="val 50000"/>
            </a:avLst>
          </a:prstGeom>
          <a:solidFill>
            <a:srgbClr val="3D7B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064258" y="1938528"/>
            <a:ext cx="146304" cy="146304"/>
          </a:xfrm>
          <a:prstGeom prst="ellipse">
            <a:avLst/>
          </a:prstGeom>
          <a:solidFill>
            <a:srgbClr val="FBECE6"/>
          </a:solidFill>
          <a:ln w="31750">
            <a:solidFill>
              <a:srgbClr val="3D7B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37410" y="2084832"/>
            <a:ext cx="-340614" cy="640080"/>
          </a:xfrm>
          <a:prstGeom prst="line">
            <a:avLst/>
          </a:prstGeom>
          <a:noFill/>
          <a:ln w="12700">
            <a:solidFill>
              <a:srgbClr val="E6C5B7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57200" y="2724912"/>
            <a:ext cx="2679192" cy="278892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724912"/>
            <a:ext cx="2679192" cy="73152"/>
          </a:xfrm>
          <a:prstGeom prst="roundRect">
            <a:avLst>
              <a:gd name="adj" fmla="val 50000"/>
            </a:avLst>
          </a:prstGeom>
          <a:solidFill>
            <a:srgbClr val="3D7B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" y="2962656"/>
            <a:ext cx="502920" cy="502920"/>
          </a:xfrm>
          <a:prstGeom prst="ellipse">
            <a:avLst/>
          </a:prstGeom>
          <a:solidFill>
            <a:srgbClr val="3D7BFF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2962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325880" y="3017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0–6 mo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3232" y="3547872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Prove it works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731520" y="4187952"/>
            <a:ext cx="109728" cy="109728"/>
          </a:xfrm>
          <a:prstGeom prst="ellipse">
            <a:avLst/>
          </a:prstGeom>
          <a:solidFill>
            <a:srgbClr val="3D7BFF"/>
          </a:solidFill>
          <a:ln/>
        </p:spPr>
      </p:sp>
      <p:sp>
        <p:nvSpPr>
          <p:cNvPr id="33" name="Text 31"/>
          <p:cNvSpPr/>
          <p:nvPr/>
        </p:nvSpPr>
        <p:spPr>
          <a:xfrm>
            <a:off x="932688" y="410565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real companies use it free for 6 months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4645152"/>
            <a:ext cx="109728" cy="109728"/>
          </a:xfrm>
          <a:prstGeom prst="ellipse">
            <a:avLst/>
          </a:prstGeom>
          <a:solidFill>
            <a:srgbClr val="3D7BFF"/>
          </a:solidFill>
          <a:ln/>
        </p:spPr>
      </p:sp>
      <p:sp>
        <p:nvSpPr>
          <p:cNvPr id="35" name="Text 33"/>
          <p:cNvSpPr/>
          <p:nvPr/>
        </p:nvSpPr>
        <p:spPr>
          <a:xfrm>
            <a:off x="932688" y="456285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proof it finds them winnable contracts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" y="5102352"/>
            <a:ext cx="109728" cy="109728"/>
          </a:xfrm>
          <a:prstGeom prst="ellipse">
            <a:avLst/>
          </a:prstGeom>
          <a:solidFill>
            <a:srgbClr val="3D7BFF"/>
          </a:solidFill>
          <a:ln/>
        </p:spPr>
      </p:sp>
      <p:sp>
        <p:nvSpPr>
          <p:cNvPr id="37" name="Text 35"/>
          <p:cNvSpPr/>
          <p:nvPr/>
        </p:nvSpPr>
        <p:spPr>
          <a:xfrm>
            <a:off x="932688" y="502005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warm contacts, feedback + testimonials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88436" y="1965960"/>
            <a:ext cx="1241298" cy="914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39" name="Shape 37"/>
          <p:cNvSpPr/>
          <p:nvPr/>
        </p:nvSpPr>
        <p:spPr>
          <a:xfrm>
            <a:off x="4035933" y="1938528"/>
            <a:ext cx="146304" cy="146304"/>
          </a:xfrm>
          <a:prstGeom prst="ellipse">
            <a:avLst/>
          </a:prstGeom>
          <a:solidFill>
            <a:srgbClr val="FBECE6"/>
          </a:solidFill>
          <a:ln w="31750">
            <a:solidFill>
              <a:srgbClr val="2DD4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09085" y="2084832"/>
            <a:ext cx="531495" cy="640080"/>
          </a:xfrm>
          <a:prstGeom prst="line">
            <a:avLst/>
          </a:prstGeom>
          <a:noFill/>
          <a:ln w="12700">
            <a:solidFill>
              <a:srgbClr val="E6C5B7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3300984" y="2724912"/>
            <a:ext cx="2679192" cy="278892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300984" y="2724912"/>
            <a:ext cx="2679192" cy="7315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43" name="Shape 41"/>
          <p:cNvSpPr/>
          <p:nvPr/>
        </p:nvSpPr>
        <p:spPr>
          <a:xfrm>
            <a:off x="3557016" y="2962656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4" name="Text 42"/>
          <p:cNvSpPr/>
          <p:nvPr/>
        </p:nvSpPr>
        <p:spPr>
          <a:xfrm>
            <a:off x="3557016" y="2962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4169664" y="3017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6–9 mo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557016" y="3547872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Sell the proof</a:t>
            </a:r>
            <a:endParaRPr lang="en-US" sz="1550" dirty="0"/>
          </a:p>
        </p:txBody>
      </p:sp>
      <p:sp>
        <p:nvSpPr>
          <p:cNvPr id="47" name="Shape 45"/>
          <p:cNvSpPr/>
          <p:nvPr/>
        </p:nvSpPr>
        <p:spPr>
          <a:xfrm>
            <a:off x="3575304" y="4187952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8" name="Text 46"/>
          <p:cNvSpPr/>
          <p:nvPr/>
        </p:nvSpPr>
        <p:spPr>
          <a:xfrm>
            <a:off x="3776472" y="410565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the price using real results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575304" y="4645152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0" name="Text 48"/>
          <p:cNvSpPr/>
          <p:nvPr/>
        </p:nvSpPr>
        <p:spPr>
          <a:xfrm>
            <a:off x="3776472" y="456285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what the first customers said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575304" y="5102352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2" name="Text 50"/>
          <p:cNvSpPr/>
          <p:nvPr/>
        </p:nvSpPr>
        <p:spPr>
          <a:xfrm>
            <a:off x="3776472" y="502005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Proof-led ads replace problem-led ones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02886" y="1965960"/>
            <a:ext cx="2555748" cy="91440"/>
          </a:xfrm>
          <a:prstGeom prst="roundRect">
            <a:avLst>
              <a:gd name="adj" fmla="val 50000"/>
            </a:avLst>
          </a:prstGeom>
          <a:solidFill>
            <a:srgbClr val="E09600"/>
          </a:solidFill>
          <a:ln/>
        </p:spPr>
      </p:sp>
      <p:sp>
        <p:nvSpPr>
          <p:cNvPr id="54" name="Shape 52"/>
          <p:cNvSpPr/>
          <p:nvPr/>
        </p:nvSpPr>
        <p:spPr>
          <a:xfrm>
            <a:off x="6007608" y="1938528"/>
            <a:ext cx="146304" cy="146304"/>
          </a:xfrm>
          <a:prstGeom prst="ellipse">
            <a:avLst/>
          </a:prstGeom>
          <a:solidFill>
            <a:srgbClr val="FBECE6"/>
          </a:solidFill>
          <a:ln w="31750">
            <a:solidFill>
              <a:srgbClr val="E096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80760" y="2084832"/>
            <a:ext cx="1403604" cy="640080"/>
          </a:xfrm>
          <a:prstGeom prst="line">
            <a:avLst/>
          </a:prstGeom>
          <a:noFill/>
          <a:ln w="12700">
            <a:solidFill>
              <a:srgbClr val="E6C5B7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6144768" y="2724912"/>
            <a:ext cx="2679192" cy="278892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144768" y="2724912"/>
            <a:ext cx="2679192" cy="73152"/>
          </a:xfrm>
          <a:prstGeom prst="roundRect">
            <a:avLst>
              <a:gd name="adj" fmla="val 50000"/>
            </a:avLst>
          </a:prstGeom>
          <a:solidFill>
            <a:srgbClr val="E09600"/>
          </a:solidFill>
          <a:ln/>
        </p:spPr>
      </p:sp>
      <p:sp>
        <p:nvSpPr>
          <p:cNvPr id="58" name="Shape 56"/>
          <p:cNvSpPr/>
          <p:nvPr/>
        </p:nvSpPr>
        <p:spPr>
          <a:xfrm>
            <a:off x="6400800" y="2962656"/>
            <a:ext cx="502920" cy="502920"/>
          </a:xfrm>
          <a:prstGeom prst="ellipse">
            <a:avLst/>
          </a:prstGeom>
          <a:solidFill>
            <a:srgbClr val="E09600"/>
          </a:solidFill>
          <a:ln/>
        </p:spPr>
      </p:sp>
      <p:sp>
        <p:nvSpPr>
          <p:cNvPr id="59" name="Text 57"/>
          <p:cNvSpPr/>
          <p:nvPr/>
        </p:nvSpPr>
        <p:spPr>
          <a:xfrm>
            <a:off x="6400800" y="2962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7013448" y="3017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9–15 mo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400800" y="3547872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Focus on the best fits</a:t>
            </a:r>
            <a:endParaRPr lang="en-US" sz="1550" dirty="0"/>
          </a:p>
        </p:txBody>
      </p:sp>
      <p:sp>
        <p:nvSpPr>
          <p:cNvPr id="62" name="Shape 60"/>
          <p:cNvSpPr/>
          <p:nvPr/>
        </p:nvSpPr>
        <p:spPr>
          <a:xfrm>
            <a:off x="6419088" y="4187952"/>
            <a:ext cx="109728" cy="109728"/>
          </a:xfrm>
          <a:prstGeom prst="ellipse">
            <a:avLst/>
          </a:prstGeom>
          <a:solidFill>
            <a:srgbClr val="E09600"/>
          </a:solidFill>
          <a:ln/>
        </p:spPr>
      </p:sp>
      <p:sp>
        <p:nvSpPr>
          <p:cNvPr id="63" name="Text 61"/>
          <p:cNvSpPr/>
          <p:nvPr/>
        </p:nvSpPr>
        <p:spPr>
          <a:xfrm>
            <a:off x="6620256" y="410565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on the two industries we win most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419088" y="4645152"/>
            <a:ext cx="109728" cy="109728"/>
          </a:xfrm>
          <a:prstGeom prst="ellipse">
            <a:avLst/>
          </a:prstGeom>
          <a:solidFill>
            <a:srgbClr val="E09600"/>
          </a:solidFill>
          <a:ln/>
        </p:spPr>
      </p:sp>
      <p:sp>
        <p:nvSpPr>
          <p:cNvPr id="65" name="Text 63"/>
          <p:cNvSpPr/>
          <p:nvPr/>
        </p:nvSpPr>
        <p:spPr>
          <a:xfrm>
            <a:off x="6620256" y="456285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to each one directly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419088" y="5102352"/>
            <a:ext cx="109728" cy="109728"/>
          </a:xfrm>
          <a:prstGeom prst="ellipse">
            <a:avLst/>
          </a:prstGeom>
          <a:solidFill>
            <a:srgbClr val="E09600"/>
          </a:solidFill>
          <a:ln/>
        </p:spPr>
      </p:sp>
      <p:sp>
        <p:nvSpPr>
          <p:cNvPr id="67" name="Text 65"/>
          <p:cNvSpPr/>
          <p:nvPr/>
        </p:nvSpPr>
        <p:spPr>
          <a:xfrm>
            <a:off x="6620256" y="502005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and ads per industry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431786" y="1965960"/>
            <a:ext cx="3870198" cy="91440"/>
          </a:xfrm>
          <a:prstGeom prst="roundRect">
            <a:avLst>
              <a:gd name="adj" fmla="val 50000"/>
            </a:avLst>
          </a:prstGeom>
          <a:solidFill>
            <a:srgbClr val="3D7BFF"/>
          </a:solidFill>
          <a:ln/>
        </p:spPr>
      </p:sp>
      <p:sp>
        <p:nvSpPr>
          <p:cNvPr id="69" name="Shape 67"/>
          <p:cNvSpPr/>
          <p:nvPr/>
        </p:nvSpPr>
        <p:spPr>
          <a:xfrm>
            <a:off x="9293733" y="1938528"/>
            <a:ext cx="146304" cy="146304"/>
          </a:xfrm>
          <a:prstGeom prst="ellipse">
            <a:avLst/>
          </a:prstGeom>
          <a:solidFill>
            <a:srgbClr val="FBECE6"/>
          </a:solidFill>
          <a:ln w="31750">
            <a:solidFill>
              <a:srgbClr val="3D7B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366885" y="2084832"/>
            <a:ext cx="961263" cy="640080"/>
          </a:xfrm>
          <a:prstGeom prst="line">
            <a:avLst/>
          </a:prstGeom>
          <a:noFill/>
          <a:ln w="12700">
            <a:solidFill>
              <a:srgbClr val="E6C5B7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8988552" y="2724912"/>
            <a:ext cx="2679192" cy="278892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8988552" y="2724912"/>
            <a:ext cx="2679192" cy="73152"/>
          </a:xfrm>
          <a:prstGeom prst="roundRect">
            <a:avLst>
              <a:gd name="adj" fmla="val 50000"/>
            </a:avLst>
          </a:prstGeom>
          <a:solidFill>
            <a:srgbClr val="3D7BFF"/>
          </a:solidFill>
          <a:ln/>
        </p:spPr>
      </p:sp>
      <p:sp>
        <p:nvSpPr>
          <p:cNvPr id="73" name="Shape 71"/>
          <p:cNvSpPr/>
          <p:nvPr/>
        </p:nvSpPr>
        <p:spPr>
          <a:xfrm>
            <a:off x="9244584" y="2962656"/>
            <a:ext cx="502920" cy="502920"/>
          </a:xfrm>
          <a:prstGeom prst="ellipse">
            <a:avLst/>
          </a:prstGeom>
          <a:solidFill>
            <a:srgbClr val="3D7BFF"/>
          </a:solidFill>
          <a:ln/>
        </p:spPr>
      </p:sp>
      <p:sp>
        <p:nvSpPr>
          <p:cNvPr id="74" name="Text 72"/>
          <p:cNvSpPr/>
          <p:nvPr/>
        </p:nvSpPr>
        <p:spPr>
          <a:xfrm>
            <a:off x="9244584" y="2962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</p:txBody>
      </p:sp>
      <p:sp>
        <p:nvSpPr>
          <p:cNvPr id="75" name="Text 73"/>
          <p:cNvSpPr/>
          <p:nvPr/>
        </p:nvSpPr>
        <p:spPr>
          <a:xfrm>
            <a:off x="9857232" y="3017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15–24 mo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9244584" y="3547872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Own the space</a:t>
            </a:r>
            <a:endParaRPr lang="en-US" sz="1550" dirty="0"/>
          </a:p>
        </p:txBody>
      </p:sp>
      <p:sp>
        <p:nvSpPr>
          <p:cNvPr id="77" name="Shape 75"/>
          <p:cNvSpPr/>
          <p:nvPr/>
        </p:nvSpPr>
        <p:spPr>
          <a:xfrm>
            <a:off x="9262872" y="4187952"/>
            <a:ext cx="109728" cy="109728"/>
          </a:xfrm>
          <a:prstGeom prst="ellipse">
            <a:avLst/>
          </a:prstGeom>
          <a:solidFill>
            <a:srgbClr val="3D7BFF"/>
          </a:solidFill>
          <a:ln/>
        </p:spPr>
      </p:sp>
      <p:sp>
        <p:nvSpPr>
          <p:cNvPr id="78" name="Text 76"/>
          <p:cNvSpPr/>
          <p:nvPr/>
        </p:nvSpPr>
        <p:spPr>
          <a:xfrm>
            <a:off x="9464040" y="410565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the name people think of first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9262872" y="4645152"/>
            <a:ext cx="109728" cy="109728"/>
          </a:xfrm>
          <a:prstGeom prst="ellipse">
            <a:avLst/>
          </a:prstGeom>
          <a:solidFill>
            <a:srgbClr val="3D7BFF"/>
          </a:solidFill>
          <a:ln/>
        </p:spPr>
      </p:sp>
      <p:sp>
        <p:nvSpPr>
          <p:cNvPr id="80" name="Text 78"/>
          <p:cNvSpPr/>
          <p:nvPr/>
        </p:nvSpPr>
        <p:spPr>
          <a:xfrm>
            <a:off x="9464040" y="456285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monthly market report + LinkedIn teasers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9262872" y="5102352"/>
            <a:ext cx="109728" cy="109728"/>
          </a:xfrm>
          <a:prstGeom prst="ellipse">
            <a:avLst/>
          </a:prstGeom>
          <a:solidFill>
            <a:srgbClr val="3D7BFF"/>
          </a:solidFill>
          <a:ln/>
        </p:spPr>
      </p:sp>
      <p:sp>
        <p:nvSpPr>
          <p:cNvPr id="82" name="Text 80"/>
          <p:cNvSpPr/>
          <p:nvPr/>
        </p:nvSpPr>
        <p:spPr>
          <a:xfrm>
            <a:off x="9464040" y="502005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partners and resellers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7200" y="5715000"/>
            <a:ext cx="11237976" cy="548640"/>
          </a:xfrm>
          <a:prstGeom prst="roundRect">
            <a:avLst>
              <a:gd name="adj" fmla="val 15000"/>
            </a:avLst>
          </a:prstGeom>
          <a:solidFill>
            <a:srgbClr val="F0FBF8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777240" y="57150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through-line:  </a:t>
            </a:r>
            <a:pPr indent="0" marL="0">
              <a:buNone/>
            </a:pPr>
            <a:r>
              <a:rPr lang="en-US" sz="12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only starts once the one before it has produced real proof — evidence, then brand, then scale.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6032" cy="10973"/>
          </a:xfrm>
          <a:prstGeom prst="rect">
            <a:avLst/>
          </a:prstGeom>
          <a:solidFill>
            <a:srgbClr val="3D7BFF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  ·  PROVE IT WORKS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241280" y="256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-10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Bid</a:t>
            </a:r>
            <a:pPr algn="r" indent="0" marL="0">
              <a:buNone/>
            </a:pPr>
            <a:r>
              <a:rPr lang="en-US" sz="1200" b="1" spc="-100" kern="0" dirty="0">
                <a:solidFill>
                  <a:srgbClr val="3D7B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5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Get evidence that it works from real companies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77640" cy="2331720"/>
          </a:xfrm>
          <a:prstGeom prst="roundRect">
            <a:avLst>
              <a:gd name="adj" fmla="val 3529"/>
            </a:avLst>
          </a:prstGeom>
          <a:solidFill>
            <a:srgbClr val="F0FBF8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737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9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OFFER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02996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spc="-4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Free for 6 months,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b="1" spc="-4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then a low fixed price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return, each company agrees to give us honest feedback (including a short video) and take two quick calls. We cap it at 200 companies and call them founding members, so the offer feels special and clearly ends.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554480"/>
            <a:ext cx="7077456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4608" y="173736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6733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Reach out to people we know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4920" y="1975104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all 500+ tech companies in our network, one by one. Sort them into: will use it, will recommend it, will speak on the record for us.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464040" y="19385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strongest, cheapest channel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2852928"/>
            <a:ext cx="7077456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64608" y="3035808"/>
            <a:ext cx="128016" cy="128016"/>
          </a:xfrm>
          <a:prstGeom prst="ellipse">
            <a:avLst/>
          </a:prstGeom>
          <a:solidFill>
            <a:srgbClr val="3D7B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2971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LinkedIn — founder posts + ads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4920" y="3273552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shares real stories from years in bidding a few times a week. Paid ads target the exact job titles that care: bid managers and heads of business development.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464040" y="323697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£4–6k per month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4151376"/>
            <a:ext cx="7077456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64608" y="4334256"/>
            <a:ext cx="128016" cy="128016"/>
          </a:xfrm>
          <a:prstGeom prst="ellipse">
            <a:avLst/>
          </a:prstGeom>
          <a:solidFill>
            <a:srgbClr val="E09600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4270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Google Ads — only ready buyers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4572000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ads only to people already searching for tender alerts or a rival tool. We catch existing demand rather than trying to create it.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464040" y="453542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9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£2–3k per month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timeline this is month 0–6. The point of Step 1 is proof, not revenue — if the product does not find real companies contracts worth bidding on, we fix that before spending on growth.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6032" cy="10973"/>
          </a:xfrm>
          <a:prstGeom prst="rect">
            <a:avLst/>
          </a:prstGeom>
          <a:solidFill>
            <a:srgbClr val="5C93FF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C9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  ·  THE CREATIVE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241280" y="256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-1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Bid</a:t>
            </a:r>
            <a:pPr algn="r" indent="0" marL="0">
              <a:buNone/>
            </a:pPr>
            <a:r>
              <a:rPr lang="en-US" sz="1200" b="1" spc="-100" kern="0" dirty="0">
                <a:solidFill>
                  <a:srgbClr val="5C93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5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we actually put in front of people on LinkedIn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promise, one real face, one clear offer. The post leads with the problem a bid manager feels, shows the product in a real workspace, and ends with the founding-member offer — nothing more.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4709160" cy="804672"/>
          </a:xfrm>
          <a:prstGeom prst="roundRect">
            <a:avLst>
              <a:gd name="adj" fmla="val 10227"/>
            </a:avLst>
          </a:prstGeom>
          <a:solidFill>
            <a:srgbClr val="131A30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880360"/>
            <a:ext cx="146304" cy="146304"/>
          </a:xfrm>
          <a:prstGeom prst="ellipse">
            <a:avLst/>
          </a:prstGeom>
          <a:solidFill>
            <a:srgbClr val="5C93FF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8163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Problem first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09981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names the pain — the noise, the missed contracts — not our features.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630168"/>
            <a:ext cx="4709160" cy="804672"/>
          </a:xfrm>
          <a:prstGeom prst="roundRect">
            <a:avLst>
              <a:gd name="adj" fmla="val 10227"/>
            </a:avLst>
          </a:prstGeom>
          <a:solidFill>
            <a:srgbClr val="131A30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3813048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749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Show, don't tell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40325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person using it in a real office. Honest, not staged stock photography.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562856"/>
            <a:ext cx="4709160" cy="804672"/>
          </a:xfrm>
          <a:prstGeom prst="roundRect">
            <a:avLst>
              <a:gd name="adj" fmla="val 10227"/>
            </a:avLst>
          </a:prstGeom>
          <a:solidFill>
            <a:srgbClr val="131A30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745736"/>
            <a:ext cx="146304" cy="14630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681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offer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9651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3 months, first 200 companies. A single, clear next step.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51192" y="1353312"/>
            <a:ext cx="4379976" cy="4663440"/>
          </a:xfrm>
          <a:prstGeom prst="roundRect">
            <a:avLst>
              <a:gd name="adj" fmla="val 1879"/>
            </a:avLst>
          </a:prstGeom>
          <a:solidFill>
            <a:srgbClr val="131A30"/>
          </a:solidFill>
          <a:ln w="12700">
            <a:solidFill>
              <a:srgbClr val="2A3450"/>
            </a:solidFill>
            <a:prstDash val="solid"/>
          </a:ln>
        </p:spPr>
      </p:sp>
      <p:pic>
        <p:nvPicPr>
          <p:cNvPr id="20" name="Image 0" descr="/home/claude/linkedin-ph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463040"/>
            <a:ext cx="4160520" cy="41605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360920" y="567842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8A9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LINKEDIN · 1200×1200 · READY TO POST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targets bid managers, heads of business development and proposal managers at 50–2,000-person firms. Founder posts run alongside, a few times a week.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6032" cy="10973"/>
          </a:xfrm>
          <a:prstGeom prst="rect">
            <a:avLst/>
          </a:prstGeom>
          <a:solidFill>
            <a:srgbClr val="3D7BFF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 RESEARCH SAYS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241280" y="256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-10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Bid</a:t>
            </a:r>
            <a:pPr algn="r" indent="0" marL="0">
              <a:buNone/>
            </a:pPr>
            <a:r>
              <a:rPr lang="en-US" sz="1200" b="1" spc="-100" kern="0" dirty="0">
                <a:solidFill>
                  <a:srgbClr val="3D7B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5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Free offers work — but a permanent free plan converts the worst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00" cy="2880360"/>
          </a:xfrm>
          <a:prstGeom prst="roundRect">
            <a:avLst>
              <a:gd name="adj" fmla="val 2857"/>
            </a:avLst>
          </a:prstGeom>
          <a:solidFill>
            <a:srgbClr val="FDF3E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37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free users who become paying customers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across 200 business software products,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3957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Always-free plan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651760"/>
            <a:ext cx="4023360" cy="164592"/>
          </a:xfrm>
          <a:prstGeom prst="roundRect">
            <a:avLst>
              <a:gd name="adj" fmla="val 16667"/>
            </a:avLst>
          </a:prstGeom>
          <a:solidFill>
            <a:srgbClr val="F6E0D6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2651760"/>
            <a:ext cx="804672" cy="164592"/>
          </a:xfrm>
          <a:prstGeom prst="roundRect">
            <a:avLst>
              <a:gd name="adj" fmla="val 16667"/>
            </a:avLst>
          </a:prstGeom>
          <a:solidFill>
            <a:srgbClr val="8A94AD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54203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2–8%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0175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trial, no card needed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273552"/>
            <a:ext cx="4023360" cy="164592"/>
          </a:xfrm>
          <a:prstGeom prst="roundRect">
            <a:avLst>
              <a:gd name="adj" fmla="val 16667"/>
            </a:avLst>
          </a:prstGeom>
          <a:solidFill>
            <a:srgbClr val="F6E0D6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273552"/>
            <a:ext cx="1689811" cy="164592"/>
          </a:xfrm>
          <a:prstGeom prst="roundRect">
            <a:avLst>
              <a:gd name="adj" fmla="val 16667"/>
            </a:avLst>
          </a:prstGeom>
          <a:solidFill>
            <a:srgbClr val="3D7BFF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316382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D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8–22%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6393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trial, card required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895344"/>
            <a:ext cx="4023360" cy="164592"/>
          </a:xfrm>
          <a:prstGeom prst="roundRect">
            <a:avLst>
              <a:gd name="adj" fmla="val 16667"/>
            </a:avLst>
          </a:prstGeom>
          <a:solidFill>
            <a:srgbClr val="F6E0D6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895344"/>
            <a:ext cx="3701491" cy="164592"/>
          </a:xfrm>
          <a:prstGeom prst="roundRect">
            <a:avLst>
              <a:gd name="adj" fmla="val 16667"/>
            </a:avLst>
          </a:prstGeom>
          <a:solidFill>
            <a:srgbClr val="2DD4BF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785616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35–55%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554480"/>
            <a:ext cx="5660136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Three lessons we are building around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55080" y="2121408"/>
            <a:ext cx="137160" cy="1371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20848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plan brings in more people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234086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a smaller share pays, a free offer attracts far more signups — so it can still produce more paying customers overall.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55080" y="2898648"/>
            <a:ext cx="137160" cy="1371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28620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ones who use it most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311810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that actively use the product convert about three times better than average. Focus effort there.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55080" y="3675888"/>
            <a:ext cx="137160" cy="1371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36393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people using it early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389534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most companies never really try it in the first two weeks, nothing else matters. Getting them to that first useful moment is the priority.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11237976" cy="960120"/>
          </a:xfrm>
          <a:prstGeom prst="roundRect">
            <a:avLst>
              <a:gd name="adj" fmla="val 8571"/>
            </a:avLst>
          </a:prstGeom>
          <a:solidFill>
            <a:srgbClr val="F0FBF8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77240" y="457200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us: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founding-member offer runs free for the first 6 months while we prove the product works. After that window closes, new companies get a short, card-gated trial (about two weeks) — not a plan that stays free forever. The long free window is deliberate, and it ends on a fixed date.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2026 conversion study of 200 business software products (ChartMogul / ProductLed / Kyle Poyar); ProductLed survey of 600+ companies.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6032" cy="10973"/>
          </a:xfrm>
          <a:prstGeom prst="rect">
            <a:avLst/>
          </a:prstGeom>
          <a:solidFill>
            <a:srgbClr val="3D7BFF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  ·  SELL THE PROOF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241280" y="256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-10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Bid</a:t>
            </a:r>
            <a:pPr algn="r" indent="0" marL="0">
              <a:buNone/>
            </a:pPr>
            <a:r>
              <a:rPr lang="en-US" sz="1200" b="1" spc="-100" kern="0" dirty="0">
                <a:solidFill>
                  <a:srgbClr val="3D7B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5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Turn what customers said into higher prices (Months 6–9)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00" cy="2194560"/>
          </a:xfrm>
          <a:prstGeom prst="roundRect">
            <a:avLst>
              <a:gd name="adj" fmla="val 3750"/>
            </a:avLst>
          </a:prstGeom>
          <a:solidFill>
            <a:srgbClr val="FDF3E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373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D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 THE PROOF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0848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15–20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213969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video interviews with real customers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5420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259689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stories with real numbers in them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9992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9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305409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result we can repeat everywhere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3832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9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"Companies found £Xm of contracts worth bidding on in 90 days."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554480"/>
            <a:ext cx="5660136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9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 THE PRICE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20848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intro price</a:t>
            </a:r>
            <a:pPr indent="0" marL="0">
              <a:buNone/>
            </a:pPr>
            <a:r>
              <a:rPr lang="en-US" sz="1500" dirty="0">
                <a:solidFill>
                  <a:srgbClr val="5B6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$490 / $1,490 a month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26060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companies keep their low price — and we say so openly — so it feels like a reward for helping early, not a bait-and-switch. New companies get a time-limited free trial.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11237976" cy="1691640"/>
          </a:xfrm>
          <a:prstGeom prst="roundRect">
            <a:avLst>
              <a:gd name="adj" fmla="val 4865"/>
            </a:avLst>
          </a:prstGeom>
          <a:solidFill>
            <a:srgbClr val="FDF3E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41148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9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ADS CHANGE: FROM DESCRIBING THE PROBLEM  →  SHOWING THE PROOF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4348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5B647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"Missing most of the contracts you could win?"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074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pain. Believable, but nothing to back it up yet.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63640" y="44348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9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6364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"We found this firm a £4.2m contract they'd have missed."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5074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customers, real names, real numbers. Far more convincing.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6032" cy="10973"/>
          </a:xfrm>
          <a:prstGeom prst="rect">
            <a:avLst/>
          </a:prstGeom>
          <a:solidFill>
            <a:srgbClr val="3D7BFF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  ·  PRICE &amp; REVENUE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241280" y="256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-10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Bid</a:t>
            </a:r>
            <a:pPr algn="r" indent="0" marL="0">
              <a:buNone/>
            </a:pPr>
            <a:r>
              <a:rPr lang="en-US" sz="1200" b="1" spc="-100" kern="0" dirty="0">
                <a:solidFill>
                  <a:srgbClr val="3D7B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5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How the price rises — and the revenue that follows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1206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37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3D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PRICE RISES AS THE PROOF GROWS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148840"/>
            <a:ext cx="4480560" cy="896112"/>
          </a:xfrm>
          <a:prstGeom prst="roundRect">
            <a:avLst>
              <a:gd name="adj" fmla="val 9184"/>
            </a:avLst>
          </a:prstGeom>
          <a:solidFill>
            <a:srgbClr val="FDF3E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225856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0–6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24780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Founding members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7523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companies, in exchange for feedback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11880" y="24048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D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0" y="3044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209544"/>
            <a:ext cx="44805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331927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6–9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60120" y="3538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First paid tier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813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cohort locks this rate for a year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11880" y="346557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9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$99 / mo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43200" y="41056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4270248"/>
            <a:ext cx="44805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FFB020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43799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9+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60120" y="4599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Standard pricing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8737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companies, priced on proven value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11880" y="4526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9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$490–1,490 / mo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60720" y="1554480"/>
            <a:ext cx="594360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80760" y="1737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9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 REVENUE CLIMBS AS COMPANIES CONVERT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19933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monthly recurring revenue by month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09360" y="4800600"/>
            <a:ext cx="5120640" cy="0"/>
          </a:xfrm>
          <a:prstGeom prst="line">
            <a:avLst/>
          </a:prstGeom>
          <a:noFill/>
          <a:ln w="12700">
            <a:solidFill>
              <a:srgbClr val="E6C5B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14186" y="4800600"/>
            <a:ext cx="614477" cy="0"/>
          </a:xfrm>
          <a:prstGeom prst="line">
            <a:avLst/>
          </a:prstGeom>
          <a:noFill/>
          <a:ln w="25400">
            <a:solidFill>
              <a:srgbClr val="8A94A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1306" y="4544568"/>
            <a:ext cx="9802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£0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31306" y="4855464"/>
            <a:ext cx="9802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538314" y="4800600"/>
            <a:ext cx="614477" cy="0"/>
          </a:xfrm>
          <a:prstGeom prst="line">
            <a:avLst/>
          </a:prstGeom>
          <a:noFill/>
          <a:ln w="25400">
            <a:solidFill>
              <a:srgbClr val="8A94A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55434" y="4544568"/>
            <a:ext cx="9802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£0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55434" y="4855464"/>
            <a:ext cx="9802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562442" y="3976726"/>
            <a:ext cx="614477" cy="823874"/>
          </a:xfrm>
          <a:prstGeom prst="roundRect">
            <a:avLst>
              <a:gd name="adj" fmla="val 4464"/>
            </a:avLst>
          </a:prstGeom>
          <a:solidFill>
            <a:srgbClr val="2DD4BF"/>
          </a:solidFill>
          <a:ln/>
        </p:spPr>
      </p:sp>
      <p:sp>
        <p:nvSpPr>
          <p:cNvPr id="36" name="Text 34"/>
          <p:cNvSpPr/>
          <p:nvPr/>
        </p:nvSpPr>
        <p:spPr>
          <a:xfrm>
            <a:off x="8379562" y="3720694"/>
            <a:ext cx="9802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£40k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79562" y="4855464"/>
            <a:ext cx="9802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M9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586570" y="3298241"/>
            <a:ext cx="614477" cy="1502359"/>
          </a:xfrm>
          <a:prstGeom prst="roundRect">
            <a:avLst>
              <a:gd name="adj" fmla="val 4464"/>
            </a:avLst>
          </a:prstGeom>
          <a:solidFill>
            <a:srgbClr val="3D7BFF"/>
          </a:solidFill>
          <a:ln/>
        </p:spPr>
      </p:sp>
      <p:sp>
        <p:nvSpPr>
          <p:cNvPr id="39" name="Text 37"/>
          <p:cNvSpPr/>
          <p:nvPr/>
        </p:nvSpPr>
        <p:spPr>
          <a:xfrm>
            <a:off x="9403690" y="3042209"/>
            <a:ext cx="9802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£110k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403690" y="4855464"/>
            <a:ext cx="9802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M12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610698" y="2377440"/>
            <a:ext cx="614477" cy="2423160"/>
          </a:xfrm>
          <a:prstGeom prst="roundRect">
            <a:avLst>
              <a:gd name="adj" fmla="val 4464"/>
            </a:avLst>
          </a:prstGeom>
          <a:solidFill>
            <a:srgbClr val="E09600"/>
          </a:solidFill>
          <a:ln/>
        </p:spPr>
      </p:sp>
      <p:sp>
        <p:nvSpPr>
          <p:cNvPr id="42" name="Text 40"/>
          <p:cNvSpPr/>
          <p:nvPr/>
        </p:nvSpPr>
        <p:spPr>
          <a:xfrm>
            <a:off x="10427818" y="2121408"/>
            <a:ext cx="9802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9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£290k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427818" y="4855464"/>
            <a:ext cx="9802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M18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080760" y="5029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while we gather proof, then revenue builds fast once the founding cohort converts and standard pricing kicks in.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57200" y="649224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figures are illustrative and follow the funnel on "The model" slide. The free window is a deliberate investment in proof before revenue.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6032" cy="10973"/>
          </a:xfrm>
          <a:prstGeom prst="rect">
            <a:avLst/>
          </a:prstGeom>
          <a:solidFill>
            <a:srgbClr val="5C93FF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C9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NUMBERS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241280" y="256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-1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Bid</a:t>
            </a:r>
            <a:pPr algn="r" indent="0" marL="0">
              <a:buNone/>
            </a:pPr>
            <a:r>
              <a:rPr lang="en-US" sz="1200" b="1" spc="-100" kern="0" dirty="0">
                <a:solidFill>
                  <a:srgbClr val="5C93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5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we expect to pay to win a customer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11237976" cy="548640"/>
          </a:xfrm>
          <a:prstGeom prst="rect">
            <a:avLst/>
          </a:prstGeom>
          <a:solidFill>
            <a:srgbClr val="1C254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727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find them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31920" y="15727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cost per lead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97880" y="15727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target cost to win a customer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66760" y="15727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121408"/>
            <a:ext cx="11237976" cy="548640"/>
          </a:xfrm>
          <a:prstGeom prst="rect">
            <a:avLst/>
          </a:prstGeom>
          <a:solidFill>
            <a:srgbClr val="131A3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214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we already know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21214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21214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£150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66760" y="21214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best source. The backbone of Step 1.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26700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— founder's own posts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26700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97880" y="26700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£300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66760" y="26700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over time. Alex's experience is the draw.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218688"/>
            <a:ext cx="11237976" cy="548640"/>
          </a:xfrm>
          <a:prstGeom prst="rect">
            <a:avLst/>
          </a:prstGeom>
          <a:solidFill>
            <a:srgbClr val="131A3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2186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— paid ads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0" y="32186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£50–120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97880" y="32186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£1,200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66760" y="32186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us target the exact right job titles.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37673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31920" y="37673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£20–70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97880" y="37673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£900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66760" y="37673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people already looking to buy.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315968"/>
            <a:ext cx="11237976" cy="548640"/>
          </a:xfrm>
          <a:prstGeom prst="rect">
            <a:avLst/>
          </a:prstGeom>
          <a:solidFill>
            <a:srgbClr val="131A30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3159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newsletter (Step 3)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31920" y="43159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97880" y="43159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£250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66760" y="43159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once, keeps bringing people in.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5029200"/>
            <a:ext cx="11237976" cy="868680"/>
          </a:xfrm>
          <a:prstGeom prst="roundRect">
            <a:avLst>
              <a:gd name="adj" fmla="val 9474"/>
            </a:avLst>
          </a:prstGeom>
          <a:solidFill>
            <a:srgbClr val="2A2208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0292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patient with LinkedIn.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average it takes a long time — often most of a year — from someone first seeing a LinkedIn ad to actually buying. If we judge it after 30 days we will wrongly switch off our best channel. We give it at least 90 days.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2026 LinkedIn and Google Ads cost-per-lead benchmarks (Dreamdata; Stackmatix / SaaSHero). "Cost to win a customer" = total marketing spend divided by new paying companies.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6032" cy="10973"/>
          </a:xfrm>
          <a:prstGeom prst="rect">
            <a:avLst/>
          </a:prstGeom>
          <a:solidFill>
            <a:srgbClr val="3D7BFF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ELSE DOES THIS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241280" y="256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-10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Bid</a:t>
            </a:r>
            <a:pPr algn="r" indent="0" marL="0">
              <a:buNone/>
            </a:pPr>
            <a:r>
              <a:rPr lang="en-US" sz="1200" b="1" spc="-100" kern="0" dirty="0">
                <a:solidFill>
                  <a:srgbClr val="3D7B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5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Similar companies — and what we take from each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37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other companies in our space, shown for comparison — not partners or customers. Each one proves part of our approach works, and shows what to copy and what to avoid.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51383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8562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3D7B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GovWin IQ (Deltek)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2176272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established name for US government contract data. Won by having the deepest data and selling to large organisations from the top down.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971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Take: deep data is the lasting advantage.  Leave: selling only to big enterprises is too slow for us right now.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51383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18562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0F9B8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GovSpend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176272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government spending and contract data. Grew on data rivals can't easily copy, plus easy links into the tools sales teams already use.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37960" y="2971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Take: hard-to-copy data as the hook, and easy integration to keep customers.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776472"/>
            <a:ext cx="551383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" y="39410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E0960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Tenderstria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9808" y="4261104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newer, AI-first tool (launched 2024). Matches each contract to a company and explains the score in writing. Starts at $299/mo with a free trial on real contracts.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9808" y="50566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Take: a low entry price and a free trial on real contracts — the closest match to our Step 1.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45352" y="3776472"/>
            <a:ext cx="551383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39410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3D7B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Brainial · GovRadar · TenderFix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4261104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newer European AI tools (Netherlands and Germany, 2019–2022). Each does one thing well — finding, qualifying, or writing bids — rather than everything.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37960" y="50566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Take: doing one thing well beats doing everything for a young company in this space.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G2 (Government Procurement Software category); CB Insights company profiles. Summaries as of July 2026.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6032" cy="10973"/>
          </a:xfrm>
          <a:prstGeom prst="rect">
            <a:avLst/>
          </a:prstGeom>
          <a:solidFill>
            <a:srgbClr val="3D7BFF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  ·  FOCUS ON THE BEST FITS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241280" y="256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-10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Bid</a:t>
            </a:r>
            <a:pPr algn="r" indent="0" marL="0">
              <a:buNone/>
            </a:pPr>
            <a:r>
              <a:rPr lang="en-US" sz="1200" b="1" spc="-100" kern="0" dirty="0">
                <a:solidFill>
                  <a:srgbClr val="3D7B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5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Stop selling to everyone; win the two industries that fit best (Months 9–15)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1237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"niching" phase on the timeline. Once Step 1 shows where we win most, we put our effort into those two industries and speak to each directly — a defence supplier should land on a page that talks about defence.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502152" cy="1188720"/>
          </a:xfrm>
          <a:prstGeom prst="roundRect">
            <a:avLst>
              <a:gd name="adj" fmla="val 6923"/>
            </a:avLst>
          </a:prstGeom>
          <a:solidFill>
            <a:srgbClr val="F0FBF8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157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Construction &amp; engineering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$28k/yr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big infrastructure contracts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88920" y="21762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0F9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33672" y="2011680"/>
            <a:ext cx="3502152" cy="1188720"/>
          </a:xfrm>
          <a:prstGeom prst="roundRect">
            <a:avLst>
              <a:gd name="adj" fmla="val 6923"/>
            </a:avLst>
          </a:prstGeom>
          <a:solidFill>
            <a:srgbClr val="F0FBF8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07992" y="2157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Defence suppliers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07992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$48k/yr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07992" y="27889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Hard-to-track, high-value work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65392" y="21762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0F9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010144" y="2011680"/>
            <a:ext cx="350215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84464" y="2157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Government contractors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84464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$42k/yr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84464" y="27889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Bids across many regions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350215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35295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Telecoms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$35k/yr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1605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and spectrum contracts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33672" y="3383280"/>
            <a:ext cx="350215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07992" y="35295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IT &amp; consultancies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07992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$22k/yr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07992" y="41605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searching for work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10144" y="3383280"/>
            <a:ext cx="350215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84464" y="35295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Healthcare suppliers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84464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$19k/yr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84464" y="41605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Health-service contracts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800600"/>
            <a:ext cx="11237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figures show the average yearly amount a customer in that industry would pay us.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5120640"/>
            <a:ext cx="3502152" cy="1005840"/>
          </a:xfrm>
          <a:prstGeom prst="roundRect">
            <a:avLst>
              <a:gd name="adj" fmla="val 8182"/>
            </a:avLst>
          </a:prstGeom>
          <a:solidFill>
            <a:srgbClr val="FDF3E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1520" y="52303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for each industry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5486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landing page per industry, in that industry's own language.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233672" y="5120640"/>
            <a:ext cx="3502152" cy="1005840"/>
          </a:xfrm>
          <a:prstGeom prst="roundRect">
            <a:avLst>
              <a:gd name="adj" fmla="val 8182"/>
            </a:avLst>
          </a:prstGeom>
          <a:solidFill>
            <a:srgbClr val="FDF3E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07992" y="52303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ads for each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07992" y="5486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written for one industry work far better than one general ad for all.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010144" y="5120640"/>
            <a:ext cx="3502152" cy="1005840"/>
          </a:xfrm>
          <a:prstGeom prst="roundRect">
            <a:avLst>
              <a:gd name="adj" fmla="val 8182"/>
            </a:avLst>
          </a:prstGeom>
          <a:solidFill>
            <a:srgbClr val="FDF3E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284464" y="52303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industry newsletter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284464" y="5486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 weekly construction-contracts email that quietly brings in new companies.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6032" cy="10973"/>
          </a:xfrm>
          <a:prstGeom prst="rect">
            <a:avLst/>
          </a:prstGeom>
          <a:solidFill>
            <a:srgbClr val="5C93FF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C9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  ·  OWN THE SPACE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241280" y="256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-1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Bid</a:t>
            </a:r>
            <a:pPr algn="r" indent="0" marL="0">
              <a:buNone/>
            </a:pPr>
            <a:r>
              <a:rPr lang="en-US" sz="1200" b="1" spc="-100" kern="0" dirty="0">
                <a:solidFill>
                  <a:srgbClr val="5C93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5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Become the name people think of first (Months 15–24)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00" cy="3063240"/>
          </a:xfrm>
          <a:prstGeom prst="roundRect">
            <a:avLst>
              <a:gd name="adj" fmla="val 2687"/>
            </a:avLst>
          </a:prstGeom>
          <a:solidFill>
            <a:srgbClr val="0E2A22"/>
          </a:solidFill>
          <a:ln w="12700">
            <a:solidFill>
              <a:srgbClr val="0F9B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556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MONTHLY MARKET REPORT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4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Publish data no one else has.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60604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5054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industries win most, and who wins them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06324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9626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companies typically get to respond, by country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52044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4198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good contracts go unnoticed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9502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month we post a sneak peek on LinkedIn — one striking finding — and people subscribe to get the full report. It builds our list, feeds the brand, and makes buyers see us as the experts.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554480"/>
            <a:ext cx="5660136" cy="932688"/>
          </a:xfrm>
          <a:prstGeom prst="roundRect">
            <a:avLst>
              <a:gd name="adj" fmla="val 8824"/>
            </a:avLst>
          </a:prstGeom>
          <a:solidFill>
            <a:srgbClr val="131A30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81928" y="1737360"/>
            <a:ext cx="109728" cy="109728"/>
          </a:xfrm>
          <a:prstGeom prst="ellipse">
            <a:avLst/>
          </a:prstGeom>
          <a:solidFill>
            <a:srgbClr val="5C93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6642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partners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92240" y="19202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consultancies and integrators resell it. We treat each partner as a test first, since a partner can't fix an unclear message — only spread it.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2606040"/>
            <a:ext cx="5660136" cy="932688"/>
          </a:xfrm>
          <a:prstGeom prst="roundRect">
            <a:avLst>
              <a:gd name="adj" fmla="val 8824"/>
            </a:avLst>
          </a:prstGeom>
          <a:solidFill>
            <a:srgbClr val="131A30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81928" y="2788920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7157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where our buyers are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92240" y="297180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up at construction, defence and healthcare events — where bid managers actually go — not generic software conferences.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3657600"/>
            <a:ext cx="5660136" cy="932688"/>
          </a:xfrm>
          <a:prstGeom prst="roundRect">
            <a:avLst>
              <a:gd name="adj" fmla="val 8824"/>
            </a:avLst>
          </a:prstGeom>
          <a:solidFill>
            <a:srgbClr val="131A30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81928" y="3840480"/>
            <a:ext cx="109728" cy="10972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7673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our data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92240" y="402336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other tools pay to use our contract data. A second income stream on top of subscriptions.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4754880"/>
            <a:ext cx="5660136" cy="548640"/>
          </a:xfrm>
          <a:prstGeom prst="roundRect">
            <a:avLst>
              <a:gd name="adj" fmla="val 15000"/>
            </a:avLst>
          </a:prstGeom>
          <a:solidFill>
            <a:srgbClr val="1C2540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47548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when a company thinks about winning contracts, it thinks of Bidstream first.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6032" cy="10973"/>
          </a:xfrm>
          <a:prstGeom prst="rect">
            <a:avLst/>
          </a:prstGeom>
          <a:solidFill>
            <a:srgbClr val="3D7BFF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241280" y="256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-10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Bid</a:t>
            </a:r>
            <a:pPr algn="r" indent="0" marL="0">
              <a:buNone/>
            </a:pPr>
            <a:r>
              <a:rPr lang="en-US" sz="1200" b="1" spc="-100" kern="0" dirty="0">
                <a:solidFill>
                  <a:srgbClr val="3D7B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5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How the numbers add up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00" cy="530352"/>
          </a:xfrm>
          <a:prstGeom prst="roundRect">
            <a:avLst>
              <a:gd name="adj" fmla="val 6897"/>
            </a:avLst>
          </a:prstGeom>
          <a:solidFill>
            <a:srgbClr val="F6E0D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18,000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26480" y="15544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see us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58200" y="155448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network plus LinkedIn and Google ads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3401568" cy="530352"/>
          </a:xfrm>
          <a:prstGeom prst="roundRect">
            <a:avLst>
              <a:gd name="adj" fmla="val 6897"/>
            </a:avLst>
          </a:prstGeom>
          <a:solidFill>
            <a:srgbClr val="9DC0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1284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26480" y="221284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58200" y="221284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 in 20 of those who see us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71216"/>
            <a:ext cx="2414016" cy="530352"/>
          </a:xfrm>
          <a:prstGeom prst="roundRect">
            <a:avLst>
              <a:gd name="adj" fmla="val 6897"/>
            </a:avLst>
          </a:prstGeom>
          <a:solidFill>
            <a:srgbClr val="3D7B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7121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26480" y="287121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start using it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58200" y="287121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in 10 of sign-ups — the key number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1536192" cy="530352"/>
          </a:xfrm>
          <a:prstGeom prst="roundRect">
            <a:avLst>
              <a:gd name="adj" fmla="val 6897"/>
            </a:avLst>
          </a:prstGeom>
          <a:solidFill>
            <a:srgbClr val="0F9B8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2958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26480" y="352958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as founding members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58200" y="352958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capped early group who give feedback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187952"/>
            <a:ext cx="987552" cy="530352"/>
          </a:xfrm>
          <a:prstGeom prst="roundRect">
            <a:avLst>
              <a:gd name="adj" fmla="val 6897"/>
            </a:avLst>
          </a:prstGeom>
          <a:solidFill>
            <a:srgbClr val="E0960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8795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26480" y="418795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by Step 2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458200" y="418795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 in 10 of the founding members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98348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DF3E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5120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D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$3.5m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594360" y="5559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revenue by month 18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91840" y="498348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DF3E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91840" y="5120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9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150+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3429000" y="5559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companies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26480" y="498348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DF3E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26480" y="5120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09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£4,200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6263640" y="5559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win each customer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961120" y="498348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DF3E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961120" y="5120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D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120%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9098280" y="5559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kept &amp; grown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6053328"/>
            <a:ext cx="11237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E8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these numbers:  </a:t>
            </a:r>
            <a:pPr algn="ctr" indent="0" marL="0">
              <a:buNone/>
            </a:pPr>
            <a:r>
              <a:rPr lang="en-US" sz="1100" i="1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tender data we build up is itself a valuable asset — worth selling and licensing down the line.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 and usage rates are based on 2026 business-software benchmarks. Every number here is an assumption we will test — the one to watch most is how many actually start using it.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6032" cy="10973"/>
          </a:xfrm>
          <a:prstGeom prst="rect">
            <a:avLst/>
          </a:prstGeom>
          <a:solidFill>
            <a:srgbClr val="3D7BFF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RISKS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241280" y="256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-10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Bid</a:t>
            </a:r>
            <a:pPr algn="r" indent="0" marL="0">
              <a:buNone/>
            </a:pPr>
            <a:r>
              <a:rPr lang="en-US" sz="1200" b="1" spc="-100" kern="0" dirty="0">
                <a:solidFill>
                  <a:srgbClr val="3D7B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5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Two ways this could fail — and how we prevent each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513832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E0960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People take the free offer but never pay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45059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usual problem with anything free: people sign up because it costs nothing, then leave the moment it doesn't.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429000"/>
            <a:ext cx="4892040" cy="1828800"/>
          </a:xfrm>
          <a:prstGeom prst="roundRect">
            <a:avLst>
              <a:gd name="adj" fmla="val 4500"/>
            </a:avLst>
          </a:prstGeom>
          <a:solidFill>
            <a:srgbClr val="FDF3E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24128" y="36027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9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WE PREVENT IT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24128" y="3877056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give free access in exchange for a feedback commitment. That attracts companies who actually mean to use it, and gives us a reason to talk to them at renewal. We also cap the group and end the free period after three months.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45352" y="1554480"/>
            <a:ext cx="5513832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65392" y="1783080"/>
            <a:ext cx="502920" cy="502920"/>
          </a:xfrm>
          <a:prstGeom prst="ellipse">
            <a:avLst/>
          </a:prstGeom>
          <a:solidFill>
            <a:srgbClr val="3D7B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65392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205472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0B102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Step 2 has nothing to show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65392" y="245059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C4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depends on Step 1 producing real success stories. If the product doesn't find companies good contracts, there is nothing to market.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65392" y="3429000"/>
            <a:ext cx="4892040" cy="1828800"/>
          </a:xfrm>
          <a:prstGeom prst="roundRect">
            <a:avLst>
              <a:gd name="adj" fmla="val 4500"/>
            </a:avLst>
          </a:prstGeom>
          <a:solidFill>
            <a:srgbClr val="FDF3EF"/>
          </a:solidFill>
          <a:ln w="12700">
            <a:solidFill>
              <a:srgbClr val="F0D9CF"/>
            </a:solidFill>
            <a:prstDash val="solid"/>
          </a:ln>
          <a:effectLst>
            <a:outerShdw sx="100000" sy="100000" kx="0" ky="0" algn="bl" rotWithShape="0" blurRad="114300" dist="25400" dir="5400000">
              <a:srgbClr val="0B102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36027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9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WE PREVENT IT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12280" y="3877056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treat the free period as a test of the product. Feedback goes straight to the engineers. If most companies aren't really using it within two weeks, we stop spending on growth and fix the product first.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6032" cy="10973"/>
          </a:xfrm>
          <a:prstGeom prst="rect">
            <a:avLst/>
          </a:prstGeom>
          <a:solidFill>
            <a:srgbClr val="5C93FF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C9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GETTING STARTED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241280" y="256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-1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Bid</a:t>
            </a:r>
            <a:pPr algn="r" indent="0" marL="0">
              <a:buNone/>
            </a:pPr>
            <a:r>
              <a:rPr lang="en-US" sz="1200" b="1" spc="-100" kern="0" dirty="0">
                <a:solidFill>
                  <a:srgbClr val="5C93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spc="-5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first 90 days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79192" cy="3703320"/>
          </a:xfrm>
          <a:prstGeom prst="roundRect">
            <a:avLst>
              <a:gd name="adj" fmla="val 3072"/>
            </a:avLst>
          </a:prstGeom>
          <a:solidFill>
            <a:srgbClr val="131A30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C9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1–2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Set up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532888"/>
            <a:ext cx="109728" cy="109728"/>
          </a:xfrm>
          <a:prstGeom prst="ellipse">
            <a:avLst/>
          </a:prstGeom>
          <a:solidFill>
            <a:srgbClr val="5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48716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website to one promise; build early traction on 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447288"/>
            <a:ext cx="109728" cy="109728"/>
          </a:xfrm>
          <a:prstGeom prst="ellipse">
            <a:avLst/>
          </a:prstGeom>
          <a:solidFill>
            <a:srgbClr val="5C93FF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40156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brand profile, LinkedIn and outreach format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361688"/>
            <a:ext cx="109728" cy="109728"/>
          </a:xfrm>
          <a:prstGeom prst="ellipse">
            <a:avLst/>
          </a:prstGeom>
          <a:solidFill>
            <a:srgbClr val="5C93FF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31596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we can see when a company starts using the product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00984" y="1554480"/>
            <a:ext cx="2679192" cy="3703320"/>
          </a:xfrm>
          <a:prstGeom prst="roundRect">
            <a:avLst>
              <a:gd name="adj" fmla="val 3072"/>
            </a:avLst>
          </a:prstGeom>
          <a:solidFill>
            <a:srgbClr val="131A30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5304" y="1737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3–6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75304" y="20116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Warm launch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75304" y="2532888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3776472" y="248716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personally contacts the best contacts first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75304" y="3447288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3776472" y="340156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founding-member offer — 200 places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75304" y="4361688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3" name="Text 21"/>
          <p:cNvSpPr/>
          <p:nvPr/>
        </p:nvSpPr>
        <p:spPr>
          <a:xfrm>
            <a:off x="3776472" y="431596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posting on LinkedIn a few times a week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44768" y="1554480"/>
            <a:ext cx="2679192" cy="3703320"/>
          </a:xfrm>
          <a:prstGeom prst="roundRect">
            <a:avLst>
              <a:gd name="adj" fmla="val 3072"/>
            </a:avLst>
          </a:prstGeom>
          <a:solidFill>
            <a:srgbClr val="131A30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9088" y="1737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7–10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19088" y="20116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Turn on ads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19088" y="2532888"/>
            <a:ext cx="109728" cy="10972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8" name="Text 26"/>
          <p:cNvSpPr/>
          <p:nvPr/>
        </p:nvSpPr>
        <p:spPr>
          <a:xfrm>
            <a:off x="6620256" y="248716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to more warm leads from the network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19088" y="3447288"/>
            <a:ext cx="109728" cy="10972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0" name="Text 28"/>
          <p:cNvSpPr/>
          <p:nvPr/>
        </p:nvSpPr>
        <p:spPr>
          <a:xfrm>
            <a:off x="6620256" y="340156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LinkedIn ads, testing three messages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19088" y="4361688"/>
            <a:ext cx="109728" cy="10972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2" name="Text 30"/>
          <p:cNvSpPr/>
          <p:nvPr/>
        </p:nvSpPr>
        <p:spPr>
          <a:xfrm>
            <a:off x="6620256" y="431596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Google ads for people already searching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988552" y="1554480"/>
            <a:ext cx="2679192" cy="3703320"/>
          </a:xfrm>
          <a:prstGeom prst="roundRect">
            <a:avLst>
              <a:gd name="adj" fmla="val 3072"/>
            </a:avLst>
          </a:prstGeom>
          <a:solidFill>
            <a:srgbClr val="131A30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62872" y="1737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C9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11–13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262872" y="20116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First proof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262872" y="2532888"/>
            <a:ext cx="109728" cy="109728"/>
          </a:xfrm>
          <a:prstGeom prst="ellipse">
            <a:avLst/>
          </a:prstGeom>
          <a:solidFill>
            <a:srgbClr val="5C93FF"/>
          </a:solidFill>
          <a:ln/>
        </p:spPr>
      </p:sp>
      <p:sp>
        <p:nvSpPr>
          <p:cNvPr id="37" name="Text 35"/>
          <p:cNvSpPr/>
          <p:nvPr/>
        </p:nvSpPr>
        <p:spPr>
          <a:xfrm>
            <a:off x="9464040" y="248716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first 5 video interviews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262872" y="3447288"/>
            <a:ext cx="109728" cy="109728"/>
          </a:xfrm>
          <a:prstGeom prst="ellipse">
            <a:avLst/>
          </a:prstGeom>
          <a:solidFill>
            <a:srgbClr val="5C93FF"/>
          </a:solidFill>
          <a:ln/>
        </p:spPr>
      </p:sp>
      <p:sp>
        <p:nvSpPr>
          <p:cNvPr id="39" name="Text 37"/>
          <p:cNvSpPr/>
          <p:nvPr/>
        </p:nvSpPr>
        <p:spPr>
          <a:xfrm>
            <a:off x="9464040" y="340156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how many companies are really using 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262872" y="4361688"/>
            <a:ext cx="109728" cy="109728"/>
          </a:xfrm>
          <a:prstGeom prst="ellipse">
            <a:avLst/>
          </a:prstGeom>
          <a:solidFill>
            <a:srgbClr val="5C93FF"/>
          </a:solidFill>
          <a:ln/>
        </p:spPr>
      </p:sp>
      <p:sp>
        <p:nvSpPr>
          <p:cNvPr id="41" name="Text 39"/>
          <p:cNvSpPr/>
          <p:nvPr/>
        </p:nvSpPr>
        <p:spPr>
          <a:xfrm>
            <a:off x="9464040" y="431596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whether we're ready for Step 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5394960"/>
            <a:ext cx="11237976" cy="658368"/>
          </a:xfrm>
          <a:prstGeom prst="roundRect">
            <a:avLst>
              <a:gd name="adj" fmla="val 12500"/>
            </a:avLst>
          </a:prstGeom>
          <a:solidFill>
            <a:srgbClr val="0E2A2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539496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at week 13:  </a:t>
            </a:r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4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150 active companies, most using it within their first two weeks, and at least 5 success stories with real numbers. If we don't hit this, we fix the product before raising prices.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914400"/>
            <a:ext cx="3474720" cy="914400"/>
          </a:xfrm>
          <a:prstGeom prst="line">
            <a:avLst/>
          </a:prstGeom>
          <a:noFill/>
          <a:ln w="12700">
            <a:solidFill>
              <a:srgbClr val="3D7B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371600"/>
            <a:ext cx="3474720" cy="457200"/>
          </a:xfrm>
          <a:prstGeom prst="line">
            <a:avLst/>
          </a:prstGeom>
          <a:noFill/>
          <a:ln w="12700">
            <a:solidFill>
              <a:srgbClr val="3D7B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194560"/>
            <a:ext cx="3474720" cy="-365760"/>
          </a:xfrm>
          <a:prstGeom prst="line">
            <a:avLst/>
          </a:prstGeom>
          <a:noFill/>
          <a:ln w="12700">
            <a:solidFill>
              <a:srgbClr val="3D7B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926080"/>
            <a:ext cx="3474720" cy="-1097280"/>
          </a:xfrm>
          <a:prstGeom prst="line">
            <a:avLst/>
          </a:prstGeom>
          <a:noFill/>
          <a:ln w="12700">
            <a:solidFill>
              <a:srgbClr val="3D7B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3383280"/>
            <a:ext cx="3474720" cy="-1554480"/>
          </a:xfrm>
          <a:prstGeom prst="line">
            <a:avLst/>
          </a:prstGeom>
          <a:noFill/>
          <a:ln w="12700">
            <a:solidFill>
              <a:srgbClr val="3D7B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22992" y="1719072"/>
            <a:ext cx="237744" cy="23774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9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ASK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Series Seed: </a:t>
            </a:r>
            <a:pPr indent="0" marL="0">
              <a:buNone/>
            </a:pPr>
            <a:r>
              <a:rPr lang="en-US" sz="3200" b="1" spc="-100" kern="0" dirty="0">
                <a:solidFill>
                  <a:srgbClr val="5C93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$4.5M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money funds the go-to-market, not the idea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9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IT GOES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90672"/>
            <a:ext cx="4206240" cy="219456"/>
          </a:xfrm>
          <a:prstGeom prst="roundRect">
            <a:avLst>
              <a:gd name="adj" fmla="val 12500"/>
            </a:avLst>
          </a:prstGeom>
          <a:solidFill>
            <a:srgbClr val="131A3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090672"/>
            <a:ext cx="4206240" cy="219456"/>
          </a:xfrm>
          <a:prstGeom prst="roundRect">
            <a:avLst>
              <a:gd name="adj" fmla="val 12500"/>
            </a:avLst>
          </a:prstGeom>
          <a:solidFill>
            <a:srgbClr val="5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3063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9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4930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4206240" cy="219456"/>
          </a:xfrm>
          <a:prstGeom prst="roundRect">
            <a:avLst>
              <a:gd name="adj" fmla="val 12500"/>
            </a:avLst>
          </a:prstGeom>
          <a:solidFill>
            <a:srgbClr val="131A30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749040"/>
            <a:ext cx="2804160" cy="219456"/>
          </a:xfrm>
          <a:prstGeom prst="roundRect">
            <a:avLst>
              <a:gd name="adj" fmla="val 12500"/>
            </a:avLst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721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15137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407408"/>
            <a:ext cx="4206240" cy="219456"/>
          </a:xfrm>
          <a:prstGeom prst="roundRect">
            <a:avLst>
              <a:gd name="adj" fmla="val 12500"/>
            </a:avLst>
          </a:prstGeom>
          <a:solidFill>
            <a:srgbClr val="131A30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407408"/>
            <a:ext cx="1402080" cy="219456"/>
          </a:xfrm>
          <a:prstGeom prst="roundRect">
            <a:avLst>
              <a:gd name="adj" fmla="val 12500"/>
            </a:avLst>
          </a:prstGeom>
          <a:solidFill>
            <a:srgbClr val="FFB020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43799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80974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company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065776"/>
            <a:ext cx="4206240" cy="219456"/>
          </a:xfrm>
          <a:prstGeom prst="roundRect">
            <a:avLst>
              <a:gd name="adj" fmla="val 12500"/>
            </a:avLst>
          </a:prstGeom>
          <a:solidFill>
            <a:srgbClr val="131A30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5065776"/>
            <a:ext cx="934720" cy="219456"/>
          </a:xfrm>
          <a:prstGeom prst="roundRect">
            <a:avLst>
              <a:gd name="adj" fmla="val 12500"/>
            </a:avLst>
          </a:prstGeom>
          <a:solidFill>
            <a:srgbClr val="5B647C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50383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2377440"/>
            <a:ext cx="5577840" cy="3063240"/>
          </a:xfrm>
          <a:prstGeom prst="roundRect">
            <a:avLst>
              <a:gd name="adj" fmla="val 2687"/>
            </a:avLst>
          </a:prstGeom>
          <a:solidFill>
            <a:srgbClr val="131A30"/>
          </a:solidFill>
          <a:ln w="12700">
            <a:solidFill>
              <a:srgbClr val="2A34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2578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9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$4.5M BUYS IN 18 MONTHS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46520" y="2990088"/>
            <a:ext cx="146304" cy="14630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29443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$3.5m yearly revenue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20840" y="32186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paying companies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46520" y="3611880"/>
            <a:ext cx="146304" cy="14630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4" name="Text 32"/>
          <p:cNvSpPr/>
          <p:nvPr/>
        </p:nvSpPr>
        <p:spPr>
          <a:xfrm>
            <a:off x="6720840" y="3566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30 countries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20840" y="38404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contract coverage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46520" y="4233672"/>
            <a:ext cx="146304" cy="14630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7" name="Text 35"/>
          <p:cNvSpPr/>
          <p:nvPr/>
        </p:nvSpPr>
        <p:spPr>
          <a:xfrm>
            <a:off x="6720840" y="4187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the next raise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20840" y="44622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$5m+ revenue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46520" y="4855464"/>
            <a:ext cx="146304" cy="14630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40" name="Text 38"/>
          <p:cNvSpPr/>
          <p:nvPr/>
        </p:nvSpPr>
        <p:spPr>
          <a:xfrm>
            <a:off x="6720840" y="48097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bid-writing helper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720840" y="50840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version live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5623560"/>
            <a:ext cx="4892040" cy="640080"/>
          </a:xfrm>
          <a:prstGeom prst="roundRect">
            <a:avLst>
              <a:gd name="adj" fmla="val 11429"/>
            </a:avLst>
          </a:prstGeom>
          <a:solidFill>
            <a:srgbClr val="3D7BFF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56235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alex@bidstream.io  ·  bidstream.io/investors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2026-08-07T14:19:33Z</dcterms:created>
  <dcterms:modified xsi:type="dcterms:W3CDTF">2026-08-07T14:19:33Z</dcterms:modified>
</cp:coreProperties>
</file>